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746"/>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143000"/>
            <a:ext cx="10698480" cy="1325880"/>
          </a:xfrm>
          <a:prstGeom prst="rect">
            <a:avLst/>
          </a:prstGeom>
          <a:noFill/>
        </p:spPr>
        <p:txBody>
          <a:bodyPr wrap="none">
            <a:spAutoFit/>
          </a:bodyPr>
          <a:lstStyle/>
          <a:p>
            <a:r>
              <a:rPr sz="3800" b="1">
                <a:solidFill>
                  <a:srgbClr val="FFFFFF"/>
                </a:solidFill>
                <a:latin typeface="Aptos Display"/>
              </a:rPr>
              <a:t>Insurance Claim Prediction</a:t>
            </a:r>
          </a:p>
          <a:p>
            <a:r>
              <a:rPr sz="2200">
                <a:solidFill>
                  <a:srgbClr val="BEDCE1"/>
                </a:solidFill>
                <a:latin typeface="Aptos"/>
              </a:rPr>
              <a:t>Big Data Analytics Capstone • Group 6</a:t>
            </a:r>
          </a:p>
        </p:txBody>
      </p:sp>
      <p:sp>
        <p:nvSpPr>
          <p:cNvPr id="4" name="Rounded Rectangle 3"/>
          <p:cNvSpPr/>
          <p:nvPr/>
        </p:nvSpPr>
        <p:spPr>
          <a:xfrm>
            <a:off x="822960" y="2971800"/>
            <a:ext cx="32004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971800"/>
            <a:ext cx="73152" cy="13258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3118104"/>
            <a:ext cx="2852928" cy="347472"/>
          </a:xfrm>
          <a:prstGeom prst="rect">
            <a:avLst/>
          </a:prstGeom>
          <a:noFill/>
        </p:spPr>
        <p:txBody>
          <a:bodyPr wrap="none">
            <a:spAutoFit/>
          </a:bodyPr>
          <a:lstStyle/>
          <a:p>
            <a:r>
              <a:rPr sz="1600" b="1">
                <a:solidFill>
                  <a:srgbClr val="142746"/>
                </a:solidFill>
                <a:latin typeface="Aptos"/>
              </a:rPr>
              <a:t>Technology Stack</a:t>
            </a:r>
          </a:p>
        </p:txBody>
      </p:sp>
      <p:sp>
        <p:nvSpPr>
          <p:cNvPr id="7" name="TextBox 6"/>
          <p:cNvSpPr txBox="1"/>
          <p:nvPr/>
        </p:nvSpPr>
        <p:spPr>
          <a:xfrm>
            <a:off x="1024128" y="3538728"/>
            <a:ext cx="2852928" cy="640080"/>
          </a:xfrm>
          <a:prstGeom prst="rect">
            <a:avLst/>
          </a:prstGeom>
          <a:noFill/>
        </p:spPr>
        <p:txBody>
          <a:bodyPr wrap="square">
            <a:spAutoFit/>
          </a:bodyPr>
          <a:lstStyle/>
          <a:p>
            <a:r>
              <a:rPr sz="1250">
                <a:solidFill>
                  <a:srgbClr val="232B34"/>
                </a:solidFill>
                <a:latin typeface="Aptos"/>
              </a:rPr>
              <a:t>HDFS • Hive • Apache Spark • PySpark • Spark MLlib • Docker • Jupyter</a:t>
            </a:r>
          </a:p>
        </p:txBody>
      </p:sp>
      <p:sp>
        <p:nvSpPr>
          <p:cNvPr id="8" name="Rounded Rectangle 7"/>
          <p:cNvSpPr/>
          <p:nvPr/>
        </p:nvSpPr>
        <p:spPr>
          <a:xfrm>
            <a:off x="4251960" y="2971800"/>
            <a:ext cx="32004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51960" y="2971800"/>
            <a:ext cx="73152" cy="132588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3118104"/>
            <a:ext cx="2852928" cy="347472"/>
          </a:xfrm>
          <a:prstGeom prst="rect">
            <a:avLst/>
          </a:prstGeom>
          <a:noFill/>
        </p:spPr>
        <p:txBody>
          <a:bodyPr wrap="none">
            <a:spAutoFit/>
          </a:bodyPr>
          <a:lstStyle/>
          <a:p>
            <a:r>
              <a:rPr sz="1600" b="1">
                <a:solidFill>
                  <a:srgbClr val="142746"/>
                </a:solidFill>
                <a:latin typeface="Aptos"/>
              </a:rPr>
              <a:t>Dataset</a:t>
            </a:r>
          </a:p>
        </p:txBody>
      </p:sp>
      <p:sp>
        <p:nvSpPr>
          <p:cNvPr id="11" name="TextBox 10"/>
          <p:cNvSpPr txBox="1"/>
          <p:nvPr/>
        </p:nvSpPr>
        <p:spPr>
          <a:xfrm>
            <a:off x="4453128" y="3538728"/>
            <a:ext cx="2852928" cy="640080"/>
          </a:xfrm>
          <a:prstGeom prst="rect">
            <a:avLst/>
          </a:prstGeom>
          <a:noFill/>
        </p:spPr>
        <p:txBody>
          <a:bodyPr wrap="square">
            <a:spAutoFit/>
          </a:bodyPr>
          <a:lstStyle/>
          <a:p>
            <a:r>
              <a:rPr sz="1250">
                <a:solidFill>
                  <a:srgbClr val="232B34"/>
                </a:solidFill>
                <a:latin typeface="Aptos"/>
              </a:rPr>
              <a:t>AutoInsuranceClaim.csv • 59 columns • 595,212 Spark records</a:t>
            </a:r>
          </a:p>
        </p:txBody>
      </p:sp>
      <p:sp>
        <p:nvSpPr>
          <p:cNvPr id="12" name="Rounded Rectangle 11"/>
          <p:cNvSpPr/>
          <p:nvPr/>
        </p:nvSpPr>
        <p:spPr>
          <a:xfrm>
            <a:off x="7680960" y="2971800"/>
            <a:ext cx="32004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80960" y="2971800"/>
            <a:ext cx="73152" cy="13258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8" y="3118104"/>
            <a:ext cx="2852928" cy="347472"/>
          </a:xfrm>
          <a:prstGeom prst="rect">
            <a:avLst/>
          </a:prstGeom>
          <a:noFill/>
        </p:spPr>
        <p:txBody>
          <a:bodyPr wrap="none">
            <a:spAutoFit/>
          </a:bodyPr>
          <a:lstStyle/>
          <a:p>
            <a:r>
              <a:rPr sz="1600" b="1">
                <a:solidFill>
                  <a:srgbClr val="142746"/>
                </a:solidFill>
                <a:latin typeface="Aptos"/>
              </a:rPr>
              <a:t>Outcome</a:t>
            </a:r>
          </a:p>
        </p:txBody>
      </p:sp>
      <p:sp>
        <p:nvSpPr>
          <p:cNvPr id="15" name="TextBox 14"/>
          <p:cNvSpPr txBox="1"/>
          <p:nvPr/>
        </p:nvSpPr>
        <p:spPr>
          <a:xfrm>
            <a:off x="7882128" y="3538728"/>
            <a:ext cx="2852928" cy="640080"/>
          </a:xfrm>
          <a:prstGeom prst="rect">
            <a:avLst/>
          </a:prstGeom>
          <a:noFill/>
        </p:spPr>
        <p:txBody>
          <a:bodyPr wrap="square">
            <a:spAutoFit/>
          </a:bodyPr>
          <a:lstStyle/>
          <a:p>
            <a:r>
              <a:rPr sz="1250">
                <a:solidFill>
                  <a:srgbClr val="232B34"/>
                </a:solidFill>
                <a:latin typeface="Aptos"/>
              </a:rPr>
              <a:t>Claim-pattern analysis and machine-learning prediction</a:t>
            </a:r>
          </a:p>
        </p:txBody>
      </p:sp>
      <p:sp>
        <p:nvSpPr>
          <p:cNvPr id="16" name="TextBox 15"/>
          <p:cNvSpPr txBox="1"/>
          <p:nvPr/>
        </p:nvSpPr>
        <p:spPr>
          <a:xfrm>
            <a:off x="841248" y="5074920"/>
            <a:ext cx="10241280" cy="685800"/>
          </a:xfrm>
          <a:prstGeom prst="rect">
            <a:avLst/>
          </a:prstGeom>
          <a:noFill/>
        </p:spPr>
        <p:txBody>
          <a:bodyPr wrap="none">
            <a:spAutoFit/>
          </a:bodyPr>
          <a:lstStyle/>
          <a:p>
            <a:r>
              <a:rPr sz="1700">
                <a:solidFill>
                  <a:srgbClr val="FFFFFF"/>
                </a:solidFill>
                <a:latin typeface="Aptos"/>
              </a:rPr>
              <a:t>Team Members: ________________________________</a:t>
            </a:r>
          </a:p>
        </p:txBody>
      </p:sp>
      <p:sp>
        <p:nvSpPr>
          <p:cNvPr id="17" name="TextBox 16"/>
          <p:cNvSpPr txBox="1"/>
          <p:nvPr/>
        </p:nvSpPr>
        <p:spPr>
          <a:xfrm>
            <a:off x="841248" y="5760720"/>
            <a:ext cx="10241280" cy="365760"/>
          </a:xfrm>
          <a:prstGeom prst="rect">
            <a:avLst/>
          </a:prstGeom>
          <a:noFill/>
        </p:spPr>
        <p:txBody>
          <a:bodyPr wrap="none">
            <a:spAutoFit/>
          </a:bodyPr>
          <a:lstStyle/>
          <a:p>
            <a:r>
              <a:rPr sz="1200">
                <a:solidFill>
                  <a:srgbClr val="BEC8D7"/>
                </a:solidFill>
                <a:latin typeface="Aptos"/>
              </a:rPr>
              <a:t>Jain University • M.Sc.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1. Business Problem + Analytics Objective</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1 min</a:t>
            </a:r>
          </a:p>
        </p:txBody>
      </p:sp>
      <p:sp>
        <p:nvSpPr>
          <p:cNvPr id="5" name="Rounded Rectangle 4"/>
          <p:cNvSpPr/>
          <p:nvPr/>
        </p:nvSpPr>
        <p:spPr>
          <a:xfrm>
            <a:off x="594360" y="1234440"/>
            <a:ext cx="5394960" cy="438912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34440"/>
            <a:ext cx="73152" cy="438912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80744"/>
            <a:ext cx="5047488" cy="347472"/>
          </a:xfrm>
          <a:prstGeom prst="rect">
            <a:avLst/>
          </a:prstGeom>
          <a:noFill/>
        </p:spPr>
        <p:txBody>
          <a:bodyPr wrap="none">
            <a:spAutoFit/>
          </a:bodyPr>
          <a:lstStyle/>
          <a:p>
            <a:r>
              <a:rPr sz="1600" b="1">
                <a:solidFill>
                  <a:srgbClr val="142746"/>
                </a:solidFill>
                <a:latin typeface="Aptos"/>
              </a:rPr>
              <a:t>Business Problem</a:t>
            </a:r>
          </a:p>
        </p:txBody>
      </p:sp>
      <p:sp>
        <p:nvSpPr>
          <p:cNvPr id="8" name="TextBox 7"/>
          <p:cNvSpPr txBox="1"/>
          <p:nvPr/>
        </p:nvSpPr>
        <p:spPr>
          <a:xfrm>
            <a:off x="795528" y="1801368"/>
            <a:ext cx="5047488" cy="3703320"/>
          </a:xfrm>
          <a:prstGeom prst="rect">
            <a:avLst/>
          </a:prstGeom>
          <a:noFill/>
        </p:spPr>
        <p:txBody>
          <a:bodyPr wrap="square">
            <a:spAutoFit/>
          </a:bodyPr>
          <a:lstStyle/>
          <a:p>
            <a:r>
              <a:rPr sz="1250">
                <a:solidFill>
                  <a:srgbClr val="232B34"/>
                </a:solidFill>
                <a:latin typeface="Aptos"/>
              </a:rPr>
              <a:t>Insurance claim datasets contain many driver, regional, vehicle and calculation-related characteristics. The business challenge is to identify patterns associated with claims and use those patterns to support claim-risk prediction.</a:t>
            </a:r>
          </a:p>
        </p:txBody>
      </p:sp>
      <p:sp>
        <p:nvSpPr>
          <p:cNvPr id="9" name="Rounded Rectangle 8"/>
          <p:cNvSpPr/>
          <p:nvPr/>
        </p:nvSpPr>
        <p:spPr>
          <a:xfrm>
            <a:off x="6217920" y="1234440"/>
            <a:ext cx="5394960" cy="438912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34440"/>
            <a:ext cx="73152" cy="438912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380744"/>
            <a:ext cx="5047488" cy="347472"/>
          </a:xfrm>
          <a:prstGeom prst="rect">
            <a:avLst/>
          </a:prstGeom>
          <a:noFill/>
        </p:spPr>
        <p:txBody>
          <a:bodyPr wrap="none">
            <a:spAutoFit/>
          </a:bodyPr>
          <a:lstStyle/>
          <a:p>
            <a:r>
              <a:rPr sz="1600" b="1">
                <a:solidFill>
                  <a:srgbClr val="142746"/>
                </a:solidFill>
                <a:latin typeface="Aptos"/>
              </a:rPr>
              <a:t>Analytics Objective</a:t>
            </a:r>
          </a:p>
        </p:txBody>
      </p:sp>
      <p:sp>
        <p:nvSpPr>
          <p:cNvPr id="12" name="TextBox 11"/>
          <p:cNvSpPr txBox="1"/>
          <p:nvPr/>
        </p:nvSpPr>
        <p:spPr>
          <a:xfrm>
            <a:off x="6419088" y="1801368"/>
            <a:ext cx="5047488" cy="3703320"/>
          </a:xfrm>
          <a:prstGeom prst="rect">
            <a:avLst/>
          </a:prstGeom>
          <a:noFill/>
        </p:spPr>
        <p:txBody>
          <a:bodyPr wrap="square">
            <a:spAutoFit/>
          </a:bodyPr>
          <a:lstStyle/>
          <a:p>
            <a:r>
              <a:rPr sz="1250">
                <a:solidFill>
                  <a:srgbClr val="232B34"/>
                </a:solidFill>
                <a:latin typeface="Aptos"/>
              </a:rPr>
              <a:t>Analyze claim patterns and important claim characteristics, then build and compare classification models that predict whether an insurance record is associated with a claim.</a:t>
            </a:r>
          </a:p>
        </p:txBody>
      </p:sp>
      <p:sp>
        <p:nvSpPr>
          <p:cNvPr id="13" name="Rounded Rectangle 12"/>
          <p:cNvSpPr/>
          <p:nvPr/>
        </p:nvSpPr>
        <p:spPr>
          <a:xfrm>
            <a:off x="1920240" y="5760720"/>
            <a:ext cx="2103120" cy="5943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5925312"/>
            <a:ext cx="2103120" cy="502920"/>
          </a:xfrm>
          <a:prstGeom prst="rect">
            <a:avLst/>
          </a:prstGeom>
          <a:noFill/>
        </p:spPr>
        <p:txBody>
          <a:bodyPr wrap="none">
            <a:spAutoFit/>
          </a:bodyPr>
          <a:lstStyle/>
          <a:p>
            <a:pPr algn="ctr"/>
            <a:r>
              <a:rPr sz="2500" b="1">
                <a:solidFill>
                  <a:srgbClr val="D67E2D"/>
                </a:solidFill>
                <a:latin typeface="Aptos Display"/>
              </a:rPr>
              <a:t>3.64%</a:t>
            </a:r>
          </a:p>
        </p:txBody>
      </p:sp>
      <p:sp>
        <p:nvSpPr>
          <p:cNvPr id="15" name="TextBox 14"/>
          <p:cNvSpPr txBox="1"/>
          <p:nvPr/>
        </p:nvSpPr>
        <p:spPr>
          <a:xfrm>
            <a:off x="1993392" y="6510528"/>
            <a:ext cx="1956815" cy="411480"/>
          </a:xfrm>
          <a:prstGeom prst="rect">
            <a:avLst/>
          </a:prstGeom>
          <a:noFill/>
        </p:spPr>
        <p:txBody>
          <a:bodyPr wrap="none">
            <a:spAutoFit/>
          </a:bodyPr>
          <a:lstStyle/>
          <a:p>
            <a:pPr algn="ctr"/>
            <a:r>
              <a:rPr sz="1100">
                <a:solidFill>
                  <a:srgbClr val="646E78"/>
                </a:solidFill>
                <a:latin typeface="Aptos"/>
              </a:rPr>
              <a:t>claim rate</a:t>
            </a:r>
          </a:p>
        </p:txBody>
      </p:sp>
      <p:sp>
        <p:nvSpPr>
          <p:cNvPr id="16" name="Rounded Rectangle 15"/>
          <p:cNvSpPr/>
          <p:nvPr/>
        </p:nvSpPr>
        <p:spPr>
          <a:xfrm>
            <a:off x="4251960" y="5760720"/>
            <a:ext cx="2103120" cy="5943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5925312"/>
            <a:ext cx="2103120" cy="502920"/>
          </a:xfrm>
          <a:prstGeom prst="rect">
            <a:avLst/>
          </a:prstGeom>
          <a:noFill/>
        </p:spPr>
        <p:txBody>
          <a:bodyPr wrap="none">
            <a:spAutoFit/>
          </a:bodyPr>
          <a:lstStyle/>
          <a:p>
            <a:pPr algn="ctr"/>
            <a:r>
              <a:rPr sz="2500" b="1">
                <a:solidFill>
                  <a:srgbClr val="2B5BA0"/>
                </a:solidFill>
                <a:latin typeface="Aptos Display"/>
              </a:rPr>
              <a:t>59</a:t>
            </a:r>
          </a:p>
        </p:txBody>
      </p:sp>
      <p:sp>
        <p:nvSpPr>
          <p:cNvPr id="18" name="TextBox 17"/>
          <p:cNvSpPr txBox="1"/>
          <p:nvPr/>
        </p:nvSpPr>
        <p:spPr>
          <a:xfrm>
            <a:off x="4325112" y="6510528"/>
            <a:ext cx="1956815" cy="411480"/>
          </a:xfrm>
          <a:prstGeom prst="rect">
            <a:avLst/>
          </a:prstGeom>
          <a:noFill/>
        </p:spPr>
        <p:txBody>
          <a:bodyPr wrap="none">
            <a:spAutoFit/>
          </a:bodyPr>
          <a:lstStyle/>
          <a:p>
            <a:pPr algn="ctr"/>
            <a:r>
              <a:rPr sz="1100">
                <a:solidFill>
                  <a:srgbClr val="646E78"/>
                </a:solidFill>
                <a:latin typeface="Aptos"/>
              </a:rPr>
              <a:t>dataset columns</a:t>
            </a:r>
          </a:p>
        </p:txBody>
      </p:sp>
      <p:sp>
        <p:nvSpPr>
          <p:cNvPr id="19" name="Rounded Rectangle 18"/>
          <p:cNvSpPr/>
          <p:nvPr/>
        </p:nvSpPr>
        <p:spPr>
          <a:xfrm>
            <a:off x="6583680" y="5760720"/>
            <a:ext cx="2103120" cy="5943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925312"/>
            <a:ext cx="2103120" cy="502920"/>
          </a:xfrm>
          <a:prstGeom prst="rect">
            <a:avLst/>
          </a:prstGeom>
          <a:noFill/>
        </p:spPr>
        <p:txBody>
          <a:bodyPr wrap="none">
            <a:spAutoFit/>
          </a:bodyPr>
          <a:lstStyle/>
          <a:p>
            <a:pPr algn="ctr"/>
            <a:r>
              <a:rPr sz="2500" b="1">
                <a:solidFill>
                  <a:srgbClr val="22827D"/>
                </a:solidFill>
                <a:latin typeface="Aptos Display"/>
              </a:rPr>
              <a:t>3</a:t>
            </a:r>
          </a:p>
        </p:txBody>
      </p:sp>
      <p:sp>
        <p:nvSpPr>
          <p:cNvPr id="21" name="TextBox 20"/>
          <p:cNvSpPr txBox="1"/>
          <p:nvPr/>
        </p:nvSpPr>
        <p:spPr>
          <a:xfrm>
            <a:off x="6656832" y="6510528"/>
            <a:ext cx="1956815" cy="411480"/>
          </a:xfrm>
          <a:prstGeom prst="rect">
            <a:avLst/>
          </a:prstGeom>
          <a:noFill/>
        </p:spPr>
        <p:txBody>
          <a:bodyPr wrap="none">
            <a:spAutoFit/>
          </a:bodyPr>
          <a:lstStyle/>
          <a:p>
            <a:pPr algn="ctr"/>
            <a:r>
              <a:rPr sz="1100">
                <a:solidFill>
                  <a:srgbClr val="646E78"/>
                </a:solidFill>
                <a:latin typeface="Aptos"/>
              </a:rPr>
              <a:t>ML models</a:t>
            </a:r>
          </a:p>
        </p:txBody>
      </p:sp>
      <p:sp>
        <p:nvSpPr>
          <p:cNvPr id="22" name="Rectangle 21"/>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2. Architecture — End-to-End Big Data Flow</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2 min</a:t>
            </a:r>
          </a:p>
        </p:txBody>
      </p:sp>
      <p:sp>
        <p:nvSpPr>
          <p:cNvPr id="5" name="Rounded Rectangle 4"/>
          <p:cNvSpPr/>
          <p:nvPr/>
        </p:nvSpPr>
        <p:spPr>
          <a:xfrm>
            <a:off x="411480" y="1828800"/>
            <a:ext cx="1645920" cy="1234440"/>
          </a:xfrm>
          <a:prstGeom prst="roundRect">
            <a:avLst/>
          </a:prstGeom>
          <a:solidFill>
            <a:srgbClr val="FFFFFF"/>
          </a:solidFill>
          <a:ln w="20320">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4632" y="1993392"/>
            <a:ext cx="1499616" cy="384048"/>
          </a:xfrm>
          <a:prstGeom prst="rect">
            <a:avLst/>
          </a:prstGeom>
          <a:noFill/>
        </p:spPr>
        <p:txBody>
          <a:bodyPr wrap="none">
            <a:spAutoFit/>
          </a:bodyPr>
          <a:lstStyle/>
          <a:p>
            <a:pPr algn="ctr"/>
            <a:r>
              <a:rPr sz="1500" b="1">
                <a:solidFill>
                  <a:srgbClr val="142746"/>
                </a:solidFill>
                <a:latin typeface="Aptos"/>
              </a:rPr>
              <a:t>Source Data</a:t>
            </a:r>
          </a:p>
        </p:txBody>
      </p:sp>
      <p:sp>
        <p:nvSpPr>
          <p:cNvPr id="7" name="TextBox 6"/>
          <p:cNvSpPr txBox="1"/>
          <p:nvPr/>
        </p:nvSpPr>
        <p:spPr>
          <a:xfrm>
            <a:off x="484632" y="2423160"/>
            <a:ext cx="1499616" cy="548640"/>
          </a:xfrm>
          <a:prstGeom prst="rect">
            <a:avLst/>
          </a:prstGeom>
          <a:noFill/>
        </p:spPr>
        <p:txBody>
          <a:bodyPr wrap="none">
            <a:spAutoFit/>
          </a:bodyPr>
          <a:lstStyle/>
          <a:p>
            <a:pPr algn="ctr"/>
            <a:r>
              <a:rPr sz="1050">
                <a:solidFill>
                  <a:srgbClr val="646E78"/>
                </a:solidFill>
                <a:latin typeface="Aptos"/>
              </a:rPr>
              <a:t>AutoInsuranceClaim.csv</a:t>
            </a:r>
          </a:p>
        </p:txBody>
      </p:sp>
      <p:cxnSp>
        <p:nvCxnSpPr>
          <p:cNvPr id="8" name="Connector 7"/>
          <p:cNvCxnSpPr/>
          <p:nvPr/>
        </p:nvCxnSpPr>
        <p:spPr>
          <a:xfrm>
            <a:off x="2057400" y="2441448"/>
            <a:ext cx="438912" cy="0"/>
          </a:xfrm>
          <a:prstGeom prst="line">
            <a:avLst/>
          </a:prstGeom>
          <a:ln w="27940">
            <a:solidFill>
              <a:srgbClr val="22827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96312" y="1828800"/>
            <a:ext cx="1645920" cy="1234440"/>
          </a:xfrm>
          <a:prstGeom prst="roundRect">
            <a:avLst/>
          </a:prstGeom>
          <a:solidFill>
            <a:srgbClr val="FFFFFF"/>
          </a:solidFill>
          <a:ln w="20320">
            <a:solidFill>
              <a:srgbClr val="2282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9464" y="1993392"/>
            <a:ext cx="1499616" cy="384048"/>
          </a:xfrm>
          <a:prstGeom prst="rect">
            <a:avLst/>
          </a:prstGeom>
          <a:noFill/>
        </p:spPr>
        <p:txBody>
          <a:bodyPr wrap="none">
            <a:spAutoFit/>
          </a:bodyPr>
          <a:lstStyle/>
          <a:p>
            <a:pPr algn="ctr"/>
            <a:r>
              <a:rPr sz="1500" b="1">
                <a:solidFill>
                  <a:srgbClr val="142746"/>
                </a:solidFill>
                <a:latin typeface="Aptos"/>
              </a:rPr>
              <a:t>HDFS</a:t>
            </a:r>
          </a:p>
        </p:txBody>
      </p:sp>
      <p:sp>
        <p:nvSpPr>
          <p:cNvPr id="11" name="TextBox 10"/>
          <p:cNvSpPr txBox="1"/>
          <p:nvPr/>
        </p:nvSpPr>
        <p:spPr>
          <a:xfrm>
            <a:off x="2569464" y="2423160"/>
            <a:ext cx="1499616" cy="548640"/>
          </a:xfrm>
          <a:prstGeom prst="rect">
            <a:avLst/>
          </a:prstGeom>
          <a:noFill/>
        </p:spPr>
        <p:txBody>
          <a:bodyPr wrap="none">
            <a:spAutoFit/>
          </a:bodyPr>
          <a:lstStyle/>
          <a:p>
            <a:pPr algn="ctr"/>
            <a:r>
              <a:rPr sz="1050">
                <a:solidFill>
                  <a:srgbClr val="646E78"/>
                </a:solidFill>
                <a:latin typeface="Aptos"/>
              </a:rPr>
              <a:t>raw / processed / results</a:t>
            </a:r>
          </a:p>
        </p:txBody>
      </p:sp>
      <p:cxnSp>
        <p:nvCxnSpPr>
          <p:cNvPr id="12" name="Connector 11"/>
          <p:cNvCxnSpPr/>
          <p:nvPr/>
        </p:nvCxnSpPr>
        <p:spPr>
          <a:xfrm>
            <a:off x="4142232" y="2441448"/>
            <a:ext cx="438912" cy="0"/>
          </a:xfrm>
          <a:prstGeom prst="line">
            <a:avLst/>
          </a:prstGeom>
          <a:ln w="27940">
            <a:solidFill>
              <a:srgbClr val="22827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81144" y="1828800"/>
            <a:ext cx="1645920" cy="1234440"/>
          </a:xfrm>
          <a:prstGeom prst="roundRect">
            <a:avLst/>
          </a:prstGeom>
          <a:solidFill>
            <a:srgbClr val="FFFFFF"/>
          </a:solidFill>
          <a:ln w="20320">
            <a:solidFill>
              <a:srgbClr val="D67E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1993392"/>
            <a:ext cx="1499616" cy="384048"/>
          </a:xfrm>
          <a:prstGeom prst="rect">
            <a:avLst/>
          </a:prstGeom>
          <a:noFill/>
        </p:spPr>
        <p:txBody>
          <a:bodyPr wrap="none">
            <a:spAutoFit/>
          </a:bodyPr>
          <a:lstStyle/>
          <a:p>
            <a:pPr algn="ctr"/>
            <a:r>
              <a:rPr sz="1500" b="1">
                <a:solidFill>
                  <a:srgbClr val="142746"/>
                </a:solidFill>
                <a:latin typeface="Aptos"/>
              </a:rPr>
              <a:t>Hive</a:t>
            </a:r>
          </a:p>
        </p:txBody>
      </p:sp>
      <p:sp>
        <p:nvSpPr>
          <p:cNvPr id="15" name="TextBox 14"/>
          <p:cNvSpPr txBox="1"/>
          <p:nvPr/>
        </p:nvSpPr>
        <p:spPr>
          <a:xfrm>
            <a:off x="4654296" y="2423160"/>
            <a:ext cx="1499616" cy="548640"/>
          </a:xfrm>
          <a:prstGeom prst="rect">
            <a:avLst/>
          </a:prstGeom>
          <a:noFill/>
        </p:spPr>
        <p:txBody>
          <a:bodyPr wrap="none">
            <a:spAutoFit/>
          </a:bodyPr>
          <a:lstStyle/>
          <a:p>
            <a:pPr algn="ctr"/>
            <a:r>
              <a:rPr sz="1050">
                <a:solidFill>
                  <a:srgbClr val="646E78"/>
                </a:solidFill>
                <a:latin typeface="Aptos"/>
              </a:rPr>
              <a:t>insurance_db
insurance_claims</a:t>
            </a:r>
          </a:p>
        </p:txBody>
      </p:sp>
      <p:cxnSp>
        <p:nvCxnSpPr>
          <p:cNvPr id="16" name="Connector 15"/>
          <p:cNvCxnSpPr/>
          <p:nvPr/>
        </p:nvCxnSpPr>
        <p:spPr>
          <a:xfrm>
            <a:off x="6227064" y="2441448"/>
            <a:ext cx="438912" cy="0"/>
          </a:xfrm>
          <a:prstGeom prst="line">
            <a:avLst/>
          </a:prstGeom>
          <a:ln w="27940">
            <a:solidFill>
              <a:srgbClr val="22827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65976" y="1828800"/>
            <a:ext cx="1645920" cy="1234440"/>
          </a:xfrm>
          <a:prstGeom prst="roundRect">
            <a:avLst/>
          </a:prstGeom>
          <a:solidFill>
            <a:srgbClr val="FFFFFF"/>
          </a:solidFill>
          <a:ln w="20320">
            <a:solidFill>
              <a:srgbClr val="2B5B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39128" y="1993392"/>
            <a:ext cx="1499616" cy="384048"/>
          </a:xfrm>
          <a:prstGeom prst="rect">
            <a:avLst/>
          </a:prstGeom>
          <a:noFill/>
        </p:spPr>
        <p:txBody>
          <a:bodyPr wrap="none">
            <a:spAutoFit/>
          </a:bodyPr>
          <a:lstStyle/>
          <a:p>
            <a:pPr algn="ctr"/>
            <a:r>
              <a:rPr sz="1500" b="1">
                <a:solidFill>
                  <a:srgbClr val="142746"/>
                </a:solidFill>
                <a:latin typeface="Aptos"/>
              </a:rPr>
              <a:t>PySpark</a:t>
            </a:r>
          </a:p>
        </p:txBody>
      </p:sp>
      <p:sp>
        <p:nvSpPr>
          <p:cNvPr id="19" name="TextBox 18"/>
          <p:cNvSpPr txBox="1"/>
          <p:nvPr/>
        </p:nvSpPr>
        <p:spPr>
          <a:xfrm>
            <a:off x="6739128" y="2423160"/>
            <a:ext cx="1499616" cy="548640"/>
          </a:xfrm>
          <a:prstGeom prst="rect">
            <a:avLst/>
          </a:prstGeom>
          <a:noFill/>
        </p:spPr>
        <p:txBody>
          <a:bodyPr wrap="none">
            <a:spAutoFit/>
          </a:bodyPr>
          <a:lstStyle/>
          <a:p>
            <a:pPr algn="ctr"/>
            <a:r>
              <a:rPr sz="1050">
                <a:solidFill>
                  <a:srgbClr val="646E78"/>
                </a:solidFill>
                <a:latin typeface="Aptos"/>
              </a:rPr>
              <a:t>cleaning + features</a:t>
            </a:r>
          </a:p>
        </p:txBody>
      </p:sp>
      <p:cxnSp>
        <p:nvCxnSpPr>
          <p:cNvPr id="20" name="Connector 19"/>
          <p:cNvCxnSpPr/>
          <p:nvPr/>
        </p:nvCxnSpPr>
        <p:spPr>
          <a:xfrm>
            <a:off x="8311896" y="2441448"/>
            <a:ext cx="438912" cy="0"/>
          </a:xfrm>
          <a:prstGeom prst="line">
            <a:avLst/>
          </a:prstGeom>
          <a:ln w="27940">
            <a:solidFill>
              <a:srgbClr val="22827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750808" y="1828800"/>
            <a:ext cx="1005840" cy="1234440"/>
          </a:xfrm>
          <a:prstGeom prst="roundRect">
            <a:avLst/>
          </a:prstGeom>
          <a:solidFill>
            <a:srgbClr val="FFFFFF"/>
          </a:solidFill>
          <a:ln w="20320">
            <a:solidFill>
              <a:srgbClr val="2282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1993392"/>
            <a:ext cx="859536" cy="384048"/>
          </a:xfrm>
          <a:prstGeom prst="rect">
            <a:avLst/>
          </a:prstGeom>
          <a:noFill/>
        </p:spPr>
        <p:txBody>
          <a:bodyPr wrap="none">
            <a:spAutoFit/>
          </a:bodyPr>
          <a:lstStyle/>
          <a:p>
            <a:pPr algn="ctr"/>
            <a:r>
              <a:rPr sz="1500" b="1">
                <a:solidFill>
                  <a:srgbClr val="142746"/>
                </a:solidFill>
                <a:latin typeface="Aptos"/>
              </a:rPr>
              <a:t>Spark MLlib</a:t>
            </a:r>
          </a:p>
        </p:txBody>
      </p:sp>
      <p:sp>
        <p:nvSpPr>
          <p:cNvPr id="23" name="TextBox 22"/>
          <p:cNvSpPr txBox="1"/>
          <p:nvPr/>
        </p:nvSpPr>
        <p:spPr>
          <a:xfrm>
            <a:off x="8823960" y="2423160"/>
            <a:ext cx="859536" cy="548640"/>
          </a:xfrm>
          <a:prstGeom prst="rect">
            <a:avLst/>
          </a:prstGeom>
          <a:noFill/>
        </p:spPr>
        <p:txBody>
          <a:bodyPr wrap="none">
            <a:spAutoFit/>
          </a:bodyPr>
          <a:lstStyle/>
          <a:p>
            <a:pPr algn="ctr"/>
            <a:r>
              <a:rPr sz="1050">
                <a:solidFill>
                  <a:srgbClr val="646E78"/>
                </a:solidFill>
                <a:latin typeface="Aptos"/>
              </a:rPr>
              <a:t>LR • DT • RF</a:t>
            </a:r>
          </a:p>
        </p:txBody>
      </p:sp>
      <p:cxnSp>
        <p:nvCxnSpPr>
          <p:cNvPr id="24" name="Connector 23"/>
          <p:cNvCxnSpPr/>
          <p:nvPr/>
        </p:nvCxnSpPr>
        <p:spPr>
          <a:xfrm>
            <a:off x="9756648" y="2441448"/>
            <a:ext cx="438912" cy="0"/>
          </a:xfrm>
          <a:prstGeom prst="line">
            <a:avLst/>
          </a:prstGeom>
          <a:ln w="27940">
            <a:solidFill>
              <a:srgbClr val="22827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195560" y="1828800"/>
            <a:ext cx="1645920" cy="1234440"/>
          </a:xfrm>
          <a:prstGeom prst="roundRect">
            <a:avLst/>
          </a:prstGeom>
          <a:solidFill>
            <a:srgbClr val="FFFFFF"/>
          </a:solidFill>
          <a:ln w="20320">
            <a:solidFill>
              <a:srgbClr val="D67E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68712" y="1993392"/>
            <a:ext cx="1499616" cy="384048"/>
          </a:xfrm>
          <a:prstGeom prst="rect">
            <a:avLst/>
          </a:prstGeom>
          <a:noFill/>
        </p:spPr>
        <p:txBody>
          <a:bodyPr wrap="none">
            <a:spAutoFit/>
          </a:bodyPr>
          <a:lstStyle/>
          <a:p>
            <a:pPr algn="ctr"/>
            <a:r>
              <a:rPr sz="1500" b="1">
                <a:solidFill>
                  <a:srgbClr val="142746"/>
                </a:solidFill>
                <a:latin typeface="Aptos"/>
              </a:rPr>
              <a:t>Results</a:t>
            </a:r>
          </a:p>
        </p:txBody>
      </p:sp>
      <p:sp>
        <p:nvSpPr>
          <p:cNvPr id="27" name="TextBox 26"/>
          <p:cNvSpPr txBox="1"/>
          <p:nvPr/>
        </p:nvSpPr>
        <p:spPr>
          <a:xfrm>
            <a:off x="10268712" y="2423160"/>
            <a:ext cx="1499616" cy="548640"/>
          </a:xfrm>
          <a:prstGeom prst="rect">
            <a:avLst/>
          </a:prstGeom>
          <a:noFill/>
        </p:spPr>
        <p:txBody>
          <a:bodyPr wrap="none">
            <a:spAutoFit/>
          </a:bodyPr>
          <a:lstStyle/>
          <a:p>
            <a:pPr algn="ctr"/>
            <a:r>
              <a:rPr sz="1050">
                <a:solidFill>
                  <a:srgbClr val="646E78"/>
                </a:solidFill>
                <a:latin typeface="Aptos"/>
              </a:rPr>
              <a:t>predictions in HDFS</a:t>
            </a:r>
          </a:p>
        </p:txBody>
      </p:sp>
      <p:sp>
        <p:nvSpPr>
          <p:cNvPr id="28" name="Rounded Rectangle 27"/>
          <p:cNvSpPr/>
          <p:nvPr/>
        </p:nvSpPr>
        <p:spPr>
          <a:xfrm>
            <a:off x="914400" y="3840480"/>
            <a:ext cx="310896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4400" y="3840480"/>
            <a:ext cx="73152" cy="13258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3986784"/>
            <a:ext cx="2761488" cy="347472"/>
          </a:xfrm>
          <a:prstGeom prst="rect">
            <a:avLst/>
          </a:prstGeom>
          <a:noFill/>
        </p:spPr>
        <p:txBody>
          <a:bodyPr wrap="none">
            <a:spAutoFit/>
          </a:bodyPr>
          <a:lstStyle/>
          <a:p>
            <a:r>
              <a:rPr sz="1600" b="1">
                <a:solidFill>
                  <a:srgbClr val="142746"/>
                </a:solidFill>
                <a:latin typeface="Aptos"/>
              </a:rPr>
              <a:t>Storage Layer</a:t>
            </a:r>
          </a:p>
        </p:txBody>
      </p:sp>
      <p:sp>
        <p:nvSpPr>
          <p:cNvPr id="31" name="TextBox 30"/>
          <p:cNvSpPr txBox="1"/>
          <p:nvPr/>
        </p:nvSpPr>
        <p:spPr>
          <a:xfrm>
            <a:off x="1115568" y="4407408"/>
            <a:ext cx="2761488" cy="640080"/>
          </a:xfrm>
          <a:prstGeom prst="rect">
            <a:avLst/>
          </a:prstGeom>
          <a:noFill/>
        </p:spPr>
        <p:txBody>
          <a:bodyPr wrap="square">
            <a:spAutoFit/>
          </a:bodyPr>
          <a:lstStyle/>
          <a:p>
            <a:r>
              <a:rPr sz="1250">
                <a:solidFill>
                  <a:srgbClr val="232B34"/>
                </a:solidFill>
                <a:latin typeface="Aptos"/>
              </a:rPr>
              <a:t>HDFS provides distributed storage and verified raw/result locations.</a:t>
            </a:r>
          </a:p>
        </p:txBody>
      </p:sp>
      <p:sp>
        <p:nvSpPr>
          <p:cNvPr id="32" name="Rounded Rectangle 31"/>
          <p:cNvSpPr/>
          <p:nvPr/>
        </p:nvSpPr>
        <p:spPr>
          <a:xfrm>
            <a:off x="4526280" y="3840480"/>
            <a:ext cx="310896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26280" y="3840480"/>
            <a:ext cx="73152" cy="13258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27448" y="3986784"/>
            <a:ext cx="2761488" cy="347472"/>
          </a:xfrm>
          <a:prstGeom prst="rect">
            <a:avLst/>
          </a:prstGeom>
          <a:noFill/>
        </p:spPr>
        <p:txBody>
          <a:bodyPr wrap="none">
            <a:spAutoFit/>
          </a:bodyPr>
          <a:lstStyle/>
          <a:p>
            <a:r>
              <a:rPr sz="1600" b="1">
                <a:solidFill>
                  <a:srgbClr val="142746"/>
                </a:solidFill>
                <a:latin typeface="Aptos"/>
              </a:rPr>
              <a:t>Query Layer</a:t>
            </a:r>
          </a:p>
        </p:txBody>
      </p:sp>
      <p:sp>
        <p:nvSpPr>
          <p:cNvPr id="35" name="TextBox 34"/>
          <p:cNvSpPr txBox="1"/>
          <p:nvPr/>
        </p:nvSpPr>
        <p:spPr>
          <a:xfrm>
            <a:off x="4727448" y="4407408"/>
            <a:ext cx="2761488" cy="640080"/>
          </a:xfrm>
          <a:prstGeom prst="rect">
            <a:avLst/>
          </a:prstGeom>
          <a:noFill/>
        </p:spPr>
        <p:txBody>
          <a:bodyPr wrap="square">
            <a:spAutoFit/>
          </a:bodyPr>
          <a:lstStyle/>
          <a:p>
            <a:r>
              <a:rPr sz="1250">
                <a:solidFill>
                  <a:srgbClr val="232B34"/>
                </a:solidFill>
                <a:latin typeface="Aptos"/>
              </a:rPr>
              <a:t>Hive provides the structured external table and analytical SQL queries.</a:t>
            </a:r>
          </a:p>
        </p:txBody>
      </p:sp>
      <p:sp>
        <p:nvSpPr>
          <p:cNvPr id="36" name="Rounded Rectangle 35"/>
          <p:cNvSpPr/>
          <p:nvPr/>
        </p:nvSpPr>
        <p:spPr>
          <a:xfrm>
            <a:off x="8138160" y="3840480"/>
            <a:ext cx="310896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38160" y="3840480"/>
            <a:ext cx="73152" cy="132588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9328" y="3986784"/>
            <a:ext cx="2761488" cy="347472"/>
          </a:xfrm>
          <a:prstGeom prst="rect">
            <a:avLst/>
          </a:prstGeom>
          <a:noFill/>
        </p:spPr>
        <p:txBody>
          <a:bodyPr wrap="none">
            <a:spAutoFit/>
          </a:bodyPr>
          <a:lstStyle/>
          <a:p>
            <a:r>
              <a:rPr sz="1600" b="1">
                <a:solidFill>
                  <a:srgbClr val="142746"/>
                </a:solidFill>
                <a:latin typeface="Aptos"/>
              </a:rPr>
              <a:t>Analytics Layer</a:t>
            </a:r>
          </a:p>
        </p:txBody>
      </p:sp>
      <p:sp>
        <p:nvSpPr>
          <p:cNvPr id="39" name="TextBox 38"/>
          <p:cNvSpPr txBox="1"/>
          <p:nvPr/>
        </p:nvSpPr>
        <p:spPr>
          <a:xfrm>
            <a:off x="8339328" y="4407408"/>
            <a:ext cx="2761488" cy="640080"/>
          </a:xfrm>
          <a:prstGeom prst="rect">
            <a:avLst/>
          </a:prstGeom>
          <a:noFill/>
        </p:spPr>
        <p:txBody>
          <a:bodyPr wrap="square">
            <a:spAutoFit/>
          </a:bodyPr>
          <a:lstStyle/>
          <a:p>
            <a:r>
              <a:rPr sz="1250">
                <a:solidFill>
                  <a:srgbClr val="232B34"/>
                </a:solidFill>
                <a:latin typeface="Aptos"/>
              </a:rPr>
              <a:t>PySpark performs preprocessing, class weighting, model training and evaluation.</a:t>
            </a:r>
          </a:p>
        </p:txBody>
      </p:sp>
      <p:sp>
        <p:nvSpPr>
          <p:cNvPr id="40" name="Rectangle 39"/>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3. HDFS + Hive — Storage, Tables and Queries</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2 min</a:t>
            </a:r>
          </a:p>
        </p:txBody>
      </p:sp>
      <p:sp>
        <p:nvSpPr>
          <p:cNvPr id="5" name="Rounded Rectangle 4"/>
          <p:cNvSpPr/>
          <p:nvPr/>
        </p:nvSpPr>
        <p:spPr>
          <a:xfrm>
            <a:off x="548640" y="1143000"/>
            <a:ext cx="365760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143000"/>
            <a:ext cx="73152" cy="45262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89304"/>
            <a:ext cx="3310128" cy="347472"/>
          </a:xfrm>
          <a:prstGeom prst="rect">
            <a:avLst/>
          </a:prstGeom>
          <a:noFill/>
        </p:spPr>
        <p:txBody>
          <a:bodyPr wrap="none">
            <a:spAutoFit/>
          </a:bodyPr>
          <a:lstStyle/>
          <a:p>
            <a:r>
              <a:rPr sz="1600" b="1">
                <a:solidFill>
                  <a:srgbClr val="142746"/>
                </a:solidFill>
                <a:latin typeface="Aptos"/>
              </a:rPr>
              <a:t>HDFS Storage</a:t>
            </a:r>
          </a:p>
        </p:txBody>
      </p:sp>
      <p:sp>
        <p:nvSpPr>
          <p:cNvPr id="8" name="TextBox 7"/>
          <p:cNvSpPr txBox="1"/>
          <p:nvPr/>
        </p:nvSpPr>
        <p:spPr>
          <a:xfrm>
            <a:off x="749808" y="1709928"/>
            <a:ext cx="3310128" cy="3840480"/>
          </a:xfrm>
          <a:prstGeom prst="rect">
            <a:avLst/>
          </a:prstGeom>
          <a:noFill/>
        </p:spPr>
        <p:txBody>
          <a:bodyPr wrap="square">
            <a:spAutoFit/>
          </a:bodyPr>
          <a:lstStyle/>
          <a:p>
            <a:r>
              <a:rPr sz="1250">
                <a:solidFill>
                  <a:srgbClr val="232B34"/>
                </a:solidFill>
                <a:latin typeface="Aptos"/>
              </a:rPr>
              <a:t>/data/insurance/
raw/
  AutoInsuranceClaim.csv
processed/
results/
  random_forest_predictions/
Verified with hdfs dfs -ls and -du -h.</a:t>
            </a:r>
          </a:p>
        </p:txBody>
      </p:sp>
      <p:sp>
        <p:nvSpPr>
          <p:cNvPr id="9" name="Rounded Rectangle 8"/>
          <p:cNvSpPr/>
          <p:nvPr/>
        </p:nvSpPr>
        <p:spPr>
          <a:xfrm>
            <a:off x="4389120" y="1143000"/>
            <a:ext cx="342900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143000"/>
            <a:ext cx="73152" cy="45262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289304"/>
            <a:ext cx="3081528" cy="347472"/>
          </a:xfrm>
          <a:prstGeom prst="rect">
            <a:avLst/>
          </a:prstGeom>
          <a:noFill/>
        </p:spPr>
        <p:txBody>
          <a:bodyPr wrap="none">
            <a:spAutoFit/>
          </a:bodyPr>
          <a:lstStyle/>
          <a:p>
            <a:r>
              <a:rPr sz="1600" b="1">
                <a:solidFill>
                  <a:srgbClr val="142746"/>
                </a:solidFill>
                <a:latin typeface="Aptos"/>
              </a:rPr>
              <a:t>Hive Data Model</a:t>
            </a:r>
          </a:p>
        </p:txBody>
      </p:sp>
      <p:sp>
        <p:nvSpPr>
          <p:cNvPr id="12" name="TextBox 11"/>
          <p:cNvSpPr txBox="1"/>
          <p:nvPr/>
        </p:nvSpPr>
        <p:spPr>
          <a:xfrm>
            <a:off x="4590288" y="1709928"/>
            <a:ext cx="3081528" cy="3840480"/>
          </a:xfrm>
          <a:prstGeom prst="rect">
            <a:avLst/>
          </a:prstGeom>
          <a:noFill/>
        </p:spPr>
        <p:txBody>
          <a:bodyPr wrap="square">
            <a:spAutoFit/>
          </a:bodyPr>
          <a:lstStyle/>
          <a:p>
            <a:r>
              <a:rPr sz="1250">
                <a:solidFill>
                  <a:srgbClr val="232B34"/>
                </a:solidFill>
                <a:latin typeface="Aptos"/>
              </a:rPr>
              <a:t>Database: insurance_db
Table: insurance_claims
Type: EXTERNAL
Format: TEXTFILE
Field separator: comma
Location: /data/insurance/raw
59 columns mapped to the dataset schema.</a:t>
            </a:r>
          </a:p>
        </p:txBody>
      </p:sp>
      <p:sp>
        <p:nvSpPr>
          <p:cNvPr id="13" name="Rounded Rectangle 12"/>
          <p:cNvSpPr/>
          <p:nvPr/>
        </p:nvSpPr>
        <p:spPr>
          <a:xfrm>
            <a:off x="8001000" y="1143000"/>
            <a:ext cx="361188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1143000"/>
            <a:ext cx="73152" cy="452628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1289304"/>
            <a:ext cx="3264408" cy="347472"/>
          </a:xfrm>
          <a:prstGeom prst="rect">
            <a:avLst/>
          </a:prstGeom>
          <a:noFill/>
        </p:spPr>
        <p:txBody>
          <a:bodyPr wrap="none">
            <a:spAutoFit/>
          </a:bodyPr>
          <a:lstStyle/>
          <a:p>
            <a:r>
              <a:rPr sz="1600" b="1">
                <a:solidFill>
                  <a:srgbClr val="142746"/>
                </a:solidFill>
                <a:latin typeface="Aptos"/>
              </a:rPr>
              <a:t>Meaningful Hive Queries</a:t>
            </a:r>
          </a:p>
        </p:txBody>
      </p:sp>
      <p:sp>
        <p:nvSpPr>
          <p:cNvPr id="16" name="TextBox 15"/>
          <p:cNvSpPr txBox="1"/>
          <p:nvPr/>
        </p:nvSpPr>
        <p:spPr>
          <a:xfrm>
            <a:off x="8202168" y="1709928"/>
            <a:ext cx="3264408" cy="3840480"/>
          </a:xfrm>
          <a:prstGeom prst="rect">
            <a:avLst/>
          </a:prstGeom>
          <a:noFill/>
        </p:spPr>
        <p:txBody>
          <a:bodyPr wrap="square">
            <a:spAutoFit/>
          </a:bodyPr>
          <a:lstStyle/>
          <a:p>
            <a:r>
              <a:rPr sz="1250">
                <a:solidFill>
                  <a:srgbClr val="232B34"/>
                </a:solidFill>
                <a:latin typeface="Aptos"/>
              </a:rPr>
              <a:t>• Total record count
• Claim / non-claim distribution
• Claim percentage
• Average selected driver, region and vehicle features
• ps_ind_03 × target distribution
These queries support the analytical story before ML.</a:t>
            </a:r>
          </a:p>
        </p:txBody>
      </p:sp>
      <p:sp>
        <p:nvSpPr>
          <p:cNvPr id="17" name="Rectangle 16"/>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4. Hive Analysis — Key Findings</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Included in HDFS + Hive section</a:t>
            </a:r>
          </a:p>
        </p:txBody>
      </p:sp>
      <p:sp>
        <p:nvSpPr>
          <p:cNvPr id="5" name="Rounded Rectangle 4"/>
          <p:cNvSpPr/>
          <p:nvPr/>
        </p:nvSpPr>
        <p:spPr>
          <a:xfrm>
            <a:off x="594360" y="1143000"/>
            <a:ext cx="22860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2286000" cy="502920"/>
          </a:xfrm>
          <a:prstGeom prst="rect">
            <a:avLst/>
          </a:prstGeom>
          <a:noFill/>
        </p:spPr>
        <p:txBody>
          <a:bodyPr wrap="none">
            <a:spAutoFit/>
          </a:bodyPr>
          <a:lstStyle/>
          <a:p>
            <a:pPr algn="ctr"/>
            <a:r>
              <a:rPr sz="2500" b="1">
                <a:solidFill>
                  <a:srgbClr val="2B5BA0"/>
                </a:solidFill>
                <a:latin typeface="Aptos Display"/>
              </a:rPr>
              <a:t>595,213</a:t>
            </a:r>
          </a:p>
        </p:txBody>
      </p:sp>
      <p:sp>
        <p:nvSpPr>
          <p:cNvPr id="7" name="TextBox 6"/>
          <p:cNvSpPr txBox="1"/>
          <p:nvPr/>
        </p:nvSpPr>
        <p:spPr>
          <a:xfrm>
            <a:off x="667512" y="1892807"/>
            <a:ext cx="2139696" cy="411480"/>
          </a:xfrm>
          <a:prstGeom prst="rect">
            <a:avLst/>
          </a:prstGeom>
          <a:noFill/>
        </p:spPr>
        <p:txBody>
          <a:bodyPr wrap="none">
            <a:spAutoFit/>
          </a:bodyPr>
          <a:lstStyle/>
          <a:p>
            <a:pPr algn="ctr"/>
            <a:r>
              <a:rPr sz="1100">
                <a:solidFill>
                  <a:srgbClr val="646E78"/>
                </a:solidFill>
                <a:latin typeface="Aptos"/>
              </a:rPr>
              <a:t>physical rows in Hive</a:t>
            </a:r>
          </a:p>
        </p:txBody>
      </p:sp>
      <p:sp>
        <p:nvSpPr>
          <p:cNvPr id="8" name="Rounded Rectangle 7"/>
          <p:cNvSpPr/>
          <p:nvPr/>
        </p:nvSpPr>
        <p:spPr>
          <a:xfrm>
            <a:off x="3063240" y="1143000"/>
            <a:ext cx="22860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307592"/>
            <a:ext cx="2286000" cy="502920"/>
          </a:xfrm>
          <a:prstGeom prst="rect">
            <a:avLst/>
          </a:prstGeom>
          <a:noFill/>
        </p:spPr>
        <p:txBody>
          <a:bodyPr wrap="none">
            <a:spAutoFit/>
          </a:bodyPr>
          <a:lstStyle/>
          <a:p>
            <a:pPr algn="ctr"/>
            <a:r>
              <a:rPr sz="2500" b="1">
                <a:solidFill>
                  <a:srgbClr val="22827D"/>
                </a:solidFill>
                <a:latin typeface="Aptos Display"/>
              </a:rPr>
              <a:t>573,518</a:t>
            </a:r>
          </a:p>
        </p:txBody>
      </p:sp>
      <p:sp>
        <p:nvSpPr>
          <p:cNvPr id="10" name="TextBox 9"/>
          <p:cNvSpPr txBox="1"/>
          <p:nvPr/>
        </p:nvSpPr>
        <p:spPr>
          <a:xfrm>
            <a:off x="3136392" y="1892807"/>
            <a:ext cx="2139696" cy="411480"/>
          </a:xfrm>
          <a:prstGeom prst="rect">
            <a:avLst/>
          </a:prstGeom>
          <a:noFill/>
        </p:spPr>
        <p:txBody>
          <a:bodyPr wrap="none">
            <a:spAutoFit/>
          </a:bodyPr>
          <a:lstStyle/>
          <a:p>
            <a:pPr algn="ctr"/>
            <a:r>
              <a:rPr sz="1100">
                <a:solidFill>
                  <a:srgbClr val="646E78"/>
                </a:solidFill>
                <a:latin typeface="Aptos"/>
              </a:rPr>
              <a:t>target = 0</a:t>
            </a:r>
          </a:p>
        </p:txBody>
      </p:sp>
      <p:sp>
        <p:nvSpPr>
          <p:cNvPr id="11" name="Rounded Rectangle 10"/>
          <p:cNvSpPr/>
          <p:nvPr/>
        </p:nvSpPr>
        <p:spPr>
          <a:xfrm>
            <a:off x="5532120" y="1143000"/>
            <a:ext cx="22860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32120" y="1307592"/>
            <a:ext cx="2286000" cy="502920"/>
          </a:xfrm>
          <a:prstGeom prst="rect">
            <a:avLst/>
          </a:prstGeom>
          <a:noFill/>
        </p:spPr>
        <p:txBody>
          <a:bodyPr wrap="none">
            <a:spAutoFit/>
          </a:bodyPr>
          <a:lstStyle/>
          <a:p>
            <a:pPr algn="ctr"/>
            <a:r>
              <a:rPr sz="2500" b="1">
                <a:solidFill>
                  <a:srgbClr val="D67E2D"/>
                </a:solidFill>
                <a:latin typeface="Aptos Display"/>
              </a:rPr>
              <a:t>21,694</a:t>
            </a:r>
          </a:p>
        </p:txBody>
      </p:sp>
      <p:sp>
        <p:nvSpPr>
          <p:cNvPr id="13" name="TextBox 12"/>
          <p:cNvSpPr txBox="1"/>
          <p:nvPr/>
        </p:nvSpPr>
        <p:spPr>
          <a:xfrm>
            <a:off x="5605272" y="1892807"/>
            <a:ext cx="2139696" cy="411480"/>
          </a:xfrm>
          <a:prstGeom prst="rect">
            <a:avLst/>
          </a:prstGeom>
          <a:noFill/>
        </p:spPr>
        <p:txBody>
          <a:bodyPr wrap="none">
            <a:spAutoFit/>
          </a:bodyPr>
          <a:lstStyle/>
          <a:p>
            <a:pPr algn="ctr"/>
            <a:r>
              <a:rPr sz="1100">
                <a:solidFill>
                  <a:srgbClr val="646E78"/>
                </a:solidFill>
                <a:latin typeface="Aptos"/>
              </a:rPr>
              <a:t>target = 1</a:t>
            </a:r>
          </a:p>
        </p:txBody>
      </p:sp>
      <p:sp>
        <p:nvSpPr>
          <p:cNvPr id="14" name="Rounded Rectangle 13"/>
          <p:cNvSpPr/>
          <p:nvPr/>
        </p:nvSpPr>
        <p:spPr>
          <a:xfrm>
            <a:off x="8001000" y="1143000"/>
            <a:ext cx="228600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1307592"/>
            <a:ext cx="2286000" cy="502920"/>
          </a:xfrm>
          <a:prstGeom prst="rect">
            <a:avLst/>
          </a:prstGeom>
          <a:noFill/>
        </p:spPr>
        <p:txBody>
          <a:bodyPr wrap="none">
            <a:spAutoFit/>
          </a:bodyPr>
          <a:lstStyle/>
          <a:p>
            <a:pPr algn="ctr"/>
            <a:r>
              <a:rPr sz="2500" b="1">
                <a:solidFill>
                  <a:srgbClr val="BE4141"/>
                </a:solidFill>
                <a:latin typeface="Aptos Display"/>
              </a:rPr>
              <a:t>3.64%</a:t>
            </a:r>
          </a:p>
        </p:txBody>
      </p:sp>
      <p:sp>
        <p:nvSpPr>
          <p:cNvPr id="16" name="TextBox 15"/>
          <p:cNvSpPr txBox="1"/>
          <p:nvPr/>
        </p:nvSpPr>
        <p:spPr>
          <a:xfrm>
            <a:off x="8074152" y="1892807"/>
            <a:ext cx="2139696" cy="411480"/>
          </a:xfrm>
          <a:prstGeom prst="rect">
            <a:avLst/>
          </a:prstGeom>
          <a:noFill/>
        </p:spPr>
        <p:txBody>
          <a:bodyPr wrap="none">
            <a:spAutoFit/>
          </a:bodyPr>
          <a:lstStyle/>
          <a:p>
            <a:pPr algn="ctr"/>
            <a:r>
              <a:rPr sz="1100">
                <a:solidFill>
                  <a:srgbClr val="646E78"/>
                </a:solidFill>
                <a:latin typeface="Aptos"/>
              </a:rPr>
              <a:t>claim percentage</a:t>
            </a:r>
          </a:p>
        </p:txBody>
      </p:sp>
      <p:sp>
        <p:nvSpPr>
          <p:cNvPr id="17" name="Rounded Rectangle 16"/>
          <p:cNvSpPr/>
          <p:nvPr/>
        </p:nvSpPr>
        <p:spPr>
          <a:xfrm>
            <a:off x="594360" y="2788920"/>
            <a:ext cx="5349240" cy="2240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788920"/>
            <a:ext cx="73152" cy="22402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2935224"/>
            <a:ext cx="5001768" cy="347472"/>
          </a:xfrm>
          <a:prstGeom prst="rect">
            <a:avLst/>
          </a:prstGeom>
          <a:noFill/>
        </p:spPr>
        <p:txBody>
          <a:bodyPr wrap="none">
            <a:spAutoFit/>
          </a:bodyPr>
          <a:lstStyle/>
          <a:p>
            <a:r>
              <a:rPr sz="1600" b="1">
                <a:solidFill>
                  <a:srgbClr val="142746"/>
                </a:solidFill>
                <a:latin typeface="Aptos"/>
              </a:rPr>
              <a:t>Feature Averages from Hive</a:t>
            </a:r>
          </a:p>
        </p:txBody>
      </p:sp>
      <p:sp>
        <p:nvSpPr>
          <p:cNvPr id="20" name="TextBox 19"/>
          <p:cNvSpPr txBox="1"/>
          <p:nvPr/>
        </p:nvSpPr>
        <p:spPr>
          <a:xfrm>
            <a:off x="795528" y="3355848"/>
            <a:ext cx="5001768" cy="1554480"/>
          </a:xfrm>
          <a:prstGeom prst="rect">
            <a:avLst/>
          </a:prstGeom>
          <a:noFill/>
        </p:spPr>
        <p:txBody>
          <a:bodyPr wrap="square">
            <a:spAutoFit/>
          </a:bodyPr>
          <a:lstStyle/>
          <a:p>
            <a:r>
              <a:rPr sz="1250">
                <a:solidFill>
                  <a:srgbClr val="232B34"/>
                </a:solidFill>
                <a:latin typeface="Aptos"/>
              </a:rPr>
              <a:t>ps_ind_03 = 4.4233
ps_reg_01 = 0.6110
ps_car_12 = 0.3799
ps_car_13 = 0.8133</a:t>
            </a:r>
          </a:p>
        </p:txBody>
      </p:sp>
      <p:sp>
        <p:nvSpPr>
          <p:cNvPr id="21" name="Rounded Rectangle 20"/>
          <p:cNvSpPr/>
          <p:nvPr/>
        </p:nvSpPr>
        <p:spPr>
          <a:xfrm>
            <a:off x="6172200" y="2788920"/>
            <a:ext cx="5349240" cy="2240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2788920"/>
            <a:ext cx="73152" cy="22402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2935224"/>
            <a:ext cx="5001768" cy="347472"/>
          </a:xfrm>
          <a:prstGeom prst="rect">
            <a:avLst/>
          </a:prstGeom>
          <a:noFill/>
        </p:spPr>
        <p:txBody>
          <a:bodyPr wrap="none">
            <a:spAutoFit/>
          </a:bodyPr>
          <a:lstStyle/>
          <a:p>
            <a:r>
              <a:rPr sz="1600" b="1">
                <a:solidFill>
                  <a:srgbClr val="142746"/>
                </a:solidFill>
                <a:latin typeface="Aptos"/>
              </a:rPr>
              <a:t>Important Data Quality Note</a:t>
            </a:r>
          </a:p>
        </p:txBody>
      </p:sp>
      <p:sp>
        <p:nvSpPr>
          <p:cNvPr id="24" name="TextBox 23"/>
          <p:cNvSpPr txBox="1"/>
          <p:nvPr/>
        </p:nvSpPr>
        <p:spPr>
          <a:xfrm>
            <a:off x="6373368" y="3355848"/>
            <a:ext cx="5001768" cy="1554480"/>
          </a:xfrm>
          <a:prstGeom prst="rect">
            <a:avLst/>
          </a:prstGeom>
          <a:noFill/>
        </p:spPr>
        <p:txBody>
          <a:bodyPr wrap="square">
            <a:spAutoFit/>
          </a:bodyPr>
          <a:lstStyle/>
          <a:p>
            <a:r>
              <a:rPr sz="1250">
                <a:solidFill>
                  <a:srgbClr val="232B34"/>
                </a:solidFill>
                <a:latin typeface="Aptos"/>
              </a:rPr>
              <a:t>Hive sees one additional physical row with NULL target. The Spark ML workflow uses 595,212 labeled records. This explains the one-row difference between Hive and Spark counts.</a:t>
            </a:r>
          </a:p>
        </p:txBody>
      </p:sp>
      <p:sp>
        <p:nvSpPr>
          <p:cNvPr id="25" name="TextBox 24"/>
          <p:cNvSpPr txBox="1"/>
          <p:nvPr/>
        </p:nvSpPr>
        <p:spPr>
          <a:xfrm>
            <a:off x="685800" y="5349240"/>
            <a:ext cx="10789920" cy="594360"/>
          </a:xfrm>
          <a:prstGeom prst="rect">
            <a:avLst/>
          </a:prstGeom>
          <a:noFill/>
        </p:spPr>
        <p:txBody>
          <a:bodyPr wrap="none">
            <a:spAutoFit/>
          </a:bodyPr>
          <a:lstStyle/>
          <a:p>
            <a:r>
              <a:rPr sz="1700" b="1">
                <a:solidFill>
                  <a:srgbClr val="142746"/>
                </a:solidFill>
                <a:latin typeface="Aptos"/>
              </a:rPr>
              <a:t>Analytical takeaway: the target is highly imbalanced, so class weighting is used in the Spark ML stage.</a:t>
            </a:r>
          </a:p>
        </p:txBody>
      </p:sp>
      <p:sp>
        <p:nvSpPr>
          <p:cNvPr id="26" name="Rectangle 25"/>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5. Spark / PySpark — Processing and Analytics</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2 min</a:t>
            </a:r>
          </a:p>
        </p:txBody>
      </p:sp>
      <p:sp>
        <p:nvSpPr>
          <p:cNvPr id="5" name="Rounded Rectangle 4"/>
          <p:cNvSpPr/>
          <p:nvPr/>
        </p:nvSpPr>
        <p:spPr>
          <a:xfrm>
            <a:off x="594360" y="1143000"/>
            <a:ext cx="352044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43000"/>
            <a:ext cx="73152" cy="452628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289304"/>
            <a:ext cx="3172968" cy="347472"/>
          </a:xfrm>
          <a:prstGeom prst="rect">
            <a:avLst/>
          </a:prstGeom>
          <a:noFill/>
        </p:spPr>
        <p:txBody>
          <a:bodyPr wrap="none">
            <a:spAutoFit/>
          </a:bodyPr>
          <a:lstStyle/>
          <a:p>
            <a:r>
              <a:rPr sz="1600" b="1">
                <a:solidFill>
                  <a:srgbClr val="142746"/>
                </a:solidFill>
                <a:latin typeface="Aptos"/>
              </a:rPr>
              <a:t>1. Data Processing</a:t>
            </a:r>
          </a:p>
        </p:txBody>
      </p:sp>
      <p:sp>
        <p:nvSpPr>
          <p:cNvPr id="8" name="TextBox 7"/>
          <p:cNvSpPr txBox="1"/>
          <p:nvPr/>
        </p:nvSpPr>
        <p:spPr>
          <a:xfrm>
            <a:off x="795528" y="1709928"/>
            <a:ext cx="3172968" cy="3840480"/>
          </a:xfrm>
          <a:prstGeom prst="rect">
            <a:avLst/>
          </a:prstGeom>
          <a:noFill/>
        </p:spPr>
        <p:txBody>
          <a:bodyPr wrap="square">
            <a:spAutoFit/>
          </a:bodyPr>
          <a:lstStyle/>
          <a:p>
            <a:r>
              <a:rPr sz="1250">
                <a:solidFill>
                  <a:srgbClr val="232B34"/>
                </a:solidFill>
                <a:latin typeface="Aptos"/>
              </a:rPr>
              <a:t>• Read CSV from HDFS
• Inspect schema and target
• Detect missing values
• Impute categorical values using mode
• Impute numerical values using median
• Validate cleaned data</a:t>
            </a:r>
          </a:p>
        </p:txBody>
      </p:sp>
      <p:sp>
        <p:nvSpPr>
          <p:cNvPr id="9" name="Rounded Rectangle 8"/>
          <p:cNvSpPr/>
          <p:nvPr/>
        </p:nvSpPr>
        <p:spPr>
          <a:xfrm>
            <a:off x="4343400" y="1143000"/>
            <a:ext cx="352044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143000"/>
            <a:ext cx="73152" cy="45262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289304"/>
            <a:ext cx="3172968" cy="347472"/>
          </a:xfrm>
          <a:prstGeom prst="rect">
            <a:avLst/>
          </a:prstGeom>
          <a:noFill/>
        </p:spPr>
        <p:txBody>
          <a:bodyPr wrap="none">
            <a:spAutoFit/>
          </a:bodyPr>
          <a:lstStyle/>
          <a:p>
            <a:r>
              <a:rPr sz="1600" b="1">
                <a:solidFill>
                  <a:srgbClr val="142746"/>
                </a:solidFill>
                <a:latin typeface="Aptos"/>
              </a:rPr>
              <a:t>2. Feature Engineering</a:t>
            </a:r>
          </a:p>
        </p:txBody>
      </p:sp>
      <p:sp>
        <p:nvSpPr>
          <p:cNvPr id="12" name="TextBox 11"/>
          <p:cNvSpPr txBox="1"/>
          <p:nvPr/>
        </p:nvSpPr>
        <p:spPr>
          <a:xfrm>
            <a:off x="4544568" y="1709928"/>
            <a:ext cx="3172968" cy="3840480"/>
          </a:xfrm>
          <a:prstGeom prst="rect">
            <a:avLst/>
          </a:prstGeom>
          <a:noFill/>
        </p:spPr>
        <p:txBody>
          <a:bodyPr wrap="square">
            <a:spAutoFit/>
          </a:bodyPr>
          <a:lstStyle/>
          <a:p>
            <a:r>
              <a:rPr sz="1250">
                <a:solidFill>
                  <a:srgbClr val="232B34"/>
                </a:solidFill>
                <a:latin typeface="Aptos"/>
              </a:rPr>
              <a:t>• 57 input features
• VectorAssembler
• 80/20 train-test split
• Class weighting for the minority claim class
• Training claim weight ≈ 26.47</a:t>
            </a:r>
          </a:p>
        </p:txBody>
      </p:sp>
      <p:sp>
        <p:nvSpPr>
          <p:cNvPr id="13" name="Rounded Rectangle 12"/>
          <p:cNvSpPr/>
          <p:nvPr/>
        </p:nvSpPr>
        <p:spPr>
          <a:xfrm>
            <a:off x="8092440" y="1143000"/>
            <a:ext cx="3520440" cy="45262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143000"/>
            <a:ext cx="73152" cy="45262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1289304"/>
            <a:ext cx="3172968" cy="347472"/>
          </a:xfrm>
          <a:prstGeom prst="rect">
            <a:avLst/>
          </a:prstGeom>
          <a:noFill/>
        </p:spPr>
        <p:txBody>
          <a:bodyPr wrap="none">
            <a:spAutoFit/>
          </a:bodyPr>
          <a:lstStyle/>
          <a:p>
            <a:r>
              <a:rPr sz="1600" b="1">
                <a:solidFill>
                  <a:srgbClr val="142746"/>
                </a:solidFill>
                <a:latin typeface="Aptos"/>
              </a:rPr>
              <a:t>3. Machine Learning</a:t>
            </a:r>
          </a:p>
        </p:txBody>
      </p:sp>
      <p:sp>
        <p:nvSpPr>
          <p:cNvPr id="16" name="TextBox 15"/>
          <p:cNvSpPr txBox="1"/>
          <p:nvPr/>
        </p:nvSpPr>
        <p:spPr>
          <a:xfrm>
            <a:off x="8293608" y="1709928"/>
            <a:ext cx="3172968" cy="3840480"/>
          </a:xfrm>
          <a:prstGeom prst="rect">
            <a:avLst/>
          </a:prstGeom>
          <a:noFill/>
        </p:spPr>
        <p:txBody>
          <a:bodyPr wrap="square">
            <a:spAutoFit/>
          </a:bodyPr>
          <a:lstStyle/>
          <a:p>
            <a:r>
              <a:rPr sz="1250">
                <a:solidFill>
                  <a:srgbClr val="232B34"/>
                </a:solidFill>
                <a:latin typeface="Aptos"/>
              </a:rPr>
              <a:t>• Logistic Regression
• Decision Tree
• Random Forest
• Accuracy, precision, recall, F1
• ROC-AUC comparison
• Random Forest predictions written to HDFS</a:t>
            </a:r>
          </a:p>
        </p:txBody>
      </p:sp>
      <p:sp>
        <p:nvSpPr>
          <p:cNvPr id="17" name="Rectangle 16"/>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6. Results — Model Comparison</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2 min</a:t>
            </a:r>
          </a:p>
        </p:txBody>
      </p:sp>
      <p:graphicFrame>
        <p:nvGraphicFramePr>
          <p:cNvPr id="5" name="Table 4"/>
          <p:cNvGraphicFramePr>
            <a:graphicFrameLocks noGrp="1"/>
          </p:cNvGraphicFramePr>
          <p:nvPr/>
        </p:nvGraphicFramePr>
        <p:xfrm>
          <a:off x="502920" y="1234440"/>
          <a:ext cx="11155680" cy="2331720"/>
        </p:xfrm>
        <a:graphic>
          <a:graphicData uri="http://schemas.openxmlformats.org/drawingml/2006/table">
            <a:tbl>
              <a:tblPr firstRow="1" bandRow="1">
                <a:tableStyleId>{5C22544A-7EE6-4342-B048-85BDC9FD1C3A}</a:tableStyleId>
              </a:tblPr>
              <a:tblGrid>
                <a:gridCol w="2468880"/>
                <a:gridCol w="1645920"/>
                <a:gridCol w="1645920"/>
                <a:gridCol w="1645920"/>
                <a:gridCol w="1645920"/>
                <a:gridCol w="2103120"/>
              </a:tblGrid>
              <a:tr h="582930">
                <a:tc>
                  <a:txBody>
                    <a:bodyPr/>
                    <a:lstStyle/>
                    <a:p>
                      <a:pPr algn="ctr">
                        <a:defRPr sz="1200" b="1">
                          <a:solidFill>
                            <a:srgbClr val="FFFFFF"/>
                          </a:solidFill>
                          <a:latin typeface="Aptos"/>
                        </a:defRPr>
                      </a:pPr>
                      <a:r>
                        <a:t>Model</a:t>
                      </a:r>
                    </a:p>
                  </a:txBody>
                  <a:tcPr>
                    <a:solidFill>
                      <a:srgbClr val="142746"/>
                    </a:solidFill>
                  </a:tcPr>
                </a:tc>
                <a:tc>
                  <a:txBody>
                    <a:bodyPr/>
                    <a:lstStyle/>
                    <a:p>
                      <a:pPr algn="ctr">
                        <a:defRPr sz="1200" b="1">
                          <a:solidFill>
                            <a:srgbClr val="FFFFFF"/>
                          </a:solidFill>
                          <a:latin typeface="Aptos"/>
                        </a:defRPr>
                      </a:pPr>
                      <a:r>
                        <a:t>Accuracy</a:t>
                      </a:r>
                    </a:p>
                  </a:txBody>
                  <a:tcPr>
                    <a:solidFill>
                      <a:srgbClr val="142746"/>
                    </a:solidFill>
                  </a:tcPr>
                </a:tc>
                <a:tc>
                  <a:txBody>
                    <a:bodyPr/>
                    <a:lstStyle/>
                    <a:p>
                      <a:pPr algn="ctr">
                        <a:defRPr sz="1200" b="1">
                          <a:solidFill>
                            <a:srgbClr val="FFFFFF"/>
                          </a:solidFill>
                          <a:latin typeface="Aptos"/>
                        </a:defRPr>
                      </a:pPr>
                      <a:r>
                        <a:t>Precision</a:t>
                      </a:r>
                    </a:p>
                  </a:txBody>
                  <a:tcPr>
                    <a:solidFill>
                      <a:srgbClr val="142746"/>
                    </a:solidFill>
                  </a:tcPr>
                </a:tc>
                <a:tc>
                  <a:txBody>
                    <a:bodyPr/>
                    <a:lstStyle/>
                    <a:p>
                      <a:pPr algn="ctr">
                        <a:defRPr sz="1200" b="1">
                          <a:solidFill>
                            <a:srgbClr val="FFFFFF"/>
                          </a:solidFill>
                          <a:latin typeface="Aptos"/>
                        </a:defRPr>
                      </a:pPr>
                      <a:r>
                        <a:t>Recall</a:t>
                      </a:r>
                    </a:p>
                  </a:txBody>
                  <a:tcPr>
                    <a:solidFill>
                      <a:srgbClr val="142746"/>
                    </a:solidFill>
                  </a:tcPr>
                </a:tc>
                <a:tc>
                  <a:txBody>
                    <a:bodyPr/>
                    <a:lstStyle/>
                    <a:p>
                      <a:pPr algn="ctr">
                        <a:defRPr sz="1200" b="1">
                          <a:solidFill>
                            <a:srgbClr val="FFFFFF"/>
                          </a:solidFill>
                          <a:latin typeface="Aptos"/>
                        </a:defRPr>
                      </a:pPr>
                      <a:r>
                        <a:t>F1</a:t>
                      </a:r>
                    </a:p>
                  </a:txBody>
                  <a:tcPr>
                    <a:solidFill>
                      <a:srgbClr val="142746"/>
                    </a:solidFill>
                  </a:tcPr>
                </a:tc>
                <a:tc>
                  <a:txBody>
                    <a:bodyPr/>
                    <a:lstStyle/>
                    <a:p>
                      <a:pPr algn="ctr">
                        <a:defRPr sz="1200" b="1">
                          <a:solidFill>
                            <a:srgbClr val="FFFFFF"/>
                          </a:solidFill>
                          <a:latin typeface="Aptos"/>
                        </a:defRPr>
                      </a:pPr>
                      <a:r>
                        <a:t>ROC-AUC</a:t>
                      </a:r>
                    </a:p>
                  </a:txBody>
                  <a:tcPr>
                    <a:solidFill>
                      <a:srgbClr val="142746"/>
                    </a:solidFill>
                  </a:tcPr>
                </a:tc>
              </a:tr>
              <a:tr h="582930">
                <a:tc>
                  <a:txBody>
                    <a:bodyPr/>
                    <a:lstStyle/>
                    <a:p>
                      <a:pPr algn="ctr">
                        <a:defRPr sz="1200">
                          <a:solidFill>
                            <a:srgbClr val="232B34"/>
                          </a:solidFill>
                          <a:latin typeface="Aptos"/>
                        </a:defRPr>
                      </a:pPr>
                      <a:r>
                        <a:t>Logistic Regression</a:t>
                      </a:r>
                    </a:p>
                  </a:txBody>
                  <a:tcPr>
                    <a:solidFill>
                      <a:srgbClr val="F2F6FA"/>
                    </a:solidFill>
                  </a:tcPr>
                </a:tc>
                <a:tc>
                  <a:txBody>
                    <a:bodyPr/>
                    <a:lstStyle/>
                    <a:p>
                      <a:pPr algn="ctr">
                        <a:defRPr sz="1200">
                          <a:solidFill>
                            <a:srgbClr val="232B34"/>
                          </a:solidFill>
                          <a:latin typeface="Aptos"/>
                        </a:defRPr>
                      </a:pPr>
                      <a:r>
                        <a:t>0.6200</a:t>
                      </a:r>
                    </a:p>
                  </a:txBody>
                  <a:tcPr>
                    <a:solidFill>
                      <a:srgbClr val="F2F6FA"/>
                    </a:solidFill>
                  </a:tcPr>
                </a:tc>
                <a:tc>
                  <a:txBody>
                    <a:bodyPr/>
                    <a:lstStyle/>
                    <a:p>
                      <a:pPr algn="ctr">
                        <a:defRPr sz="1200">
                          <a:solidFill>
                            <a:srgbClr val="232B34"/>
                          </a:solidFill>
                          <a:latin typeface="Aptos"/>
                        </a:defRPr>
                      </a:pPr>
                      <a:r>
                        <a:t>0.0526</a:t>
                      </a:r>
                    </a:p>
                  </a:txBody>
                  <a:tcPr>
                    <a:solidFill>
                      <a:srgbClr val="F2F6FA"/>
                    </a:solidFill>
                  </a:tcPr>
                </a:tc>
                <a:tc>
                  <a:txBody>
                    <a:bodyPr/>
                    <a:lstStyle/>
                    <a:p>
                      <a:pPr algn="ctr">
                        <a:defRPr sz="1200">
                          <a:solidFill>
                            <a:srgbClr val="232B34"/>
                          </a:solidFill>
                          <a:latin typeface="Aptos"/>
                        </a:defRPr>
                      </a:pPr>
                      <a:r>
                        <a:t>0.5504</a:t>
                      </a:r>
                    </a:p>
                  </a:txBody>
                  <a:tcPr>
                    <a:solidFill>
                      <a:srgbClr val="F2F6FA"/>
                    </a:solidFill>
                  </a:tcPr>
                </a:tc>
                <a:tc>
                  <a:txBody>
                    <a:bodyPr/>
                    <a:lstStyle/>
                    <a:p>
                      <a:pPr algn="ctr">
                        <a:defRPr sz="1200">
                          <a:solidFill>
                            <a:srgbClr val="232B34"/>
                          </a:solidFill>
                          <a:latin typeface="Aptos"/>
                        </a:defRPr>
                      </a:pPr>
                      <a:r>
                        <a:t>0.0960</a:t>
                      </a:r>
                    </a:p>
                  </a:txBody>
                  <a:tcPr>
                    <a:solidFill>
                      <a:srgbClr val="F2F6FA"/>
                    </a:solidFill>
                  </a:tcPr>
                </a:tc>
                <a:tc>
                  <a:txBody>
                    <a:bodyPr/>
                    <a:lstStyle/>
                    <a:p>
                      <a:pPr algn="ctr">
                        <a:defRPr sz="1200">
                          <a:solidFill>
                            <a:srgbClr val="232B34"/>
                          </a:solidFill>
                          <a:latin typeface="Aptos"/>
                        </a:defRPr>
                      </a:pPr>
                      <a:r>
                        <a:t>0.6205</a:t>
                      </a:r>
                    </a:p>
                  </a:txBody>
                  <a:tcPr>
                    <a:solidFill>
                      <a:srgbClr val="F2F6FA"/>
                    </a:solidFill>
                  </a:tcPr>
                </a:tc>
              </a:tr>
              <a:tr h="582930">
                <a:tc>
                  <a:txBody>
                    <a:bodyPr/>
                    <a:lstStyle/>
                    <a:p>
                      <a:pPr algn="ctr">
                        <a:defRPr sz="1200">
                          <a:solidFill>
                            <a:srgbClr val="232B34"/>
                          </a:solidFill>
                          <a:latin typeface="Aptos"/>
                        </a:defRPr>
                      </a:pPr>
                      <a:r>
                        <a:t>Decision Tree</a:t>
                      </a:r>
                    </a:p>
                  </a:txBody>
                  <a:tcPr>
                    <a:solidFill>
                      <a:srgbClr val="FFFFFF"/>
                    </a:solidFill>
                  </a:tcPr>
                </a:tc>
                <a:tc>
                  <a:txBody>
                    <a:bodyPr/>
                    <a:lstStyle/>
                    <a:p>
                      <a:pPr algn="ctr">
                        <a:defRPr sz="1200">
                          <a:solidFill>
                            <a:srgbClr val="232B34"/>
                          </a:solidFill>
                          <a:latin typeface="Aptos"/>
                        </a:defRPr>
                      </a:pPr>
                      <a:r>
                        <a:t>0.6775</a:t>
                      </a:r>
                    </a:p>
                  </a:txBody>
                  <a:tcPr>
                    <a:solidFill>
                      <a:srgbClr val="FFFFFF"/>
                    </a:solidFill>
                  </a:tcPr>
                </a:tc>
                <a:tc>
                  <a:txBody>
                    <a:bodyPr/>
                    <a:lstStyle/>
                    <a:p>
                      <a:pPr algn="ctr">
                        <a:defRPr sz="1200">
                          <a:solidFill>
                            <a:srgbClr val="232B34"/>
                          </a:solidFill>
                          <a:latin typeface="Aptos"/>
                        </a:defRPr>
                      </a:pPr>
                      <a:r>
                        <a:t>0.0526</a:t>
                      </a:r>
                    </a:p>
                  </a:txBody>
                  <a:tcPr>
                    <a:solidFill>
                      <a:srgbClr val="FFFFFF"/>
                    </a:solidFill>
                  </a:tcPr>
                </a:tc>
                <a:tc>
                  <a:txBody>
                    <a:bodyPr/>
                    <a:lstStyle/>
                    <a:p>
                      <a:pPr algn="ctr">
                        <a:defRPr sz="1200">
                          <a:solidFill>
                            <a:srgbClr val="232B34"/>
                          </a:solidFill>
                          <a:latin typeface="Aptos"/>
                        </a:defRPr>
                      </a:pPr>
                      <a:r>
                        <a:t>0.4579</a:t>
                      </a:r>
                    </a:p>
                  </a:txBody>
                  <a:tcPr>
                    <a:solidFill>
                      <a:srgbClr val="FFFFFF"/>
                    </a:solidFill>
                  </a:tcPr>
                </a:tc>
                <a:tc>
                  <a:txBody>
                    <a:bodyPr/>
                    <a:lstStyle/>
                    <a:p>
                      <a:pPr algn="ctr">
                        <a:defRPr sz="1200">
                          <a:solidFill>
                            <a:srgbClr val="232B34"/>
                          </a:solidFill>
                          <a:latin typeface="Aptos"/>
                        </a:defRPr>
                      </a:pPr>
                      <a:r>
                        <a:t>0.0943</a:t>
                      </a:r>
                    </a:p>
                  </a:txBody>
                  <a:tcPr>
                    <a:solidFill>
                      <a:srgbClr val="FFFFFF"/>
                    </a:solidFill>
                  </a:tcPr>
                </a:tc>
                <a:tc>
                  <a:txBody>
                    <a:bodyPr/>
                    <a:lstStyle/>
                    <a:p>
                      <a:pPr algn="ctr">
                        <a:defRPr sz="1200">
                          <a:solidFill>
                            <a:srgbClr val="232B34"/>
                          </a:solidFill>
                          <a:latin typeface="Aptos"/>
                        </a:defRPr>
                      </a:pPr>
                      <a:r>
                        <a:t>0.4390</a:t>
                      </a:r>
                    </a:p>
                  </a:txBody>
                  <a:tcPr>
                    <a:solidFill>
                      <a:srgbClr val="FFFFFF"/>
                    </a:solidFill>
                  </a:tcPr>
                </a:tc>
              </a:tr>
              <a:tr h="582930">
                <a:tc>
                  <a:txBody>
                    <a:bodyPr/>
                    <a:lstStyle/>
                    <a:p>
                      <a:pPr algn="ctr">
                        <a:defRPr sz="1200">
                          <a:solidFill>
                            <a:srgbClr val="232B34"/>
                          </a:solidFill>
                          <a:latin typeface="Aptos"/>
                        </a:defRPr>
                      </a:pPr>
                      <a:r>
                        <a:t>Random Forest</a:t>
                      </a:r>
                    </a:p>
                  </a:txBody>
                  <a:tcPr>
                    <a:solidFill>
                      <a:srgbClr val="F2F6FA"/>
                    </a:solidFill>
                  </a:tcPr>
                </a:tc>
                <a:tc>
                  <a:txBody>
                    <a:bodyPr/>
                    <a:lstStyle/>
                    <a:p>
                      <a:pPr algn="ctr">
                        <a:defRPr sz="1200">
                          <a:solidFill>
                            <a:srgbClr val="232B34"/>
                          </a:solidFill>
                          <a:latin typeface="Aptos"/>
                        </a:defRPr>
                      </a:pPr>
                      <a:r>
                        <a:t>0.6453</a:t>
                      </a:r>
                    </a:p>
                  </a:txBody>
                  <a:tcPr>
                    <a:solidFill>
                      <a:srgbClr val="F2F6FA"/>
                    </a:solidFill>
                  </a:tcPr>
                </a:tc>
                <a:tc>
                  <a:txBody>
                    <a:bodyPr/>
                    <a:lstStyle/>
                    <a:p>
                      <a:pPr algn="ctr">
                        <a:defRPr sz="1200">
                          <a:solidFill>
                            <a:srgbClr val="232B34"/>
                          </a:solidFill>
                          <a:latin typeface="Aptos"/>
                        </a:defRPr>
                      </a:pPr>
                      <a:r>
                        <a:t>0.0537</a:t>
                      </a:r>
                    </a:p>
                  </a:txBody>
                  <a:tcPr>
                    <a:solidFill>
                      <a:srgbClr val="F2F6FA"/>
                    </a:solidFill>
                  </a:tcPr>
                </a:tc>
                <a:tc>
                  <a:txBody>
                    <a:bodyPr/>
                    <a:lstStyle/>
                    <a:p>
                      <a:pPr algn="ctr">
                        <a:defRPr sz="1200">
                          <a:solidFill>
                            <a:srgbClr val="232B34"/>
                          </a:solidFill>
                          <a:latin typeface="Aptos"/>
                        </a:defRPr>
                      </a:pPr>
                      <a:r>
                        <a:t>0.5217</a:t>
                      </a:r>
                    </a:p>
                  </a:txBody>
                  <a:tcPr>
                    <a:solidFill>
                      <a:srgbClr val="F2F6FA"/>
                    </a:solidFill>
                  </a:tcPr>
                </a:tc>
                <a:tc>
                  <a:txBody>
                    <a:bodyPr/>
                    <a:lstStyle/>
                    <a:p>
                      <a:pPr algn="ctr">
                        <a:defRPr sz="1200">
                          <a:solidFill>
                            <a:srgbClr val="232B34"/>
                          </a:solidFill>
                          <a:latin typeface="Aptos"/>
                        </a:defRPr>
                      </a:pPr>
                      <a:r>
                        <a:t>0.0974</a:t>
                      </a:r>
                    </a:p>
                  </a:txBody>
                  <a:tcPr>
                    <a:solidFill>
                      <a:srgbClr val="F2F6FA"/>
                    </a:solidFill>
                  </a:tcPr>
                </a:tc>
                <a:tc>
                  <a:txBody>
                    <a:bodyPr/>
                    <a:lstStyle/>
                    <a:p>
                      <a:pPr algn="ctr">
                        <a:defRPr sz="1200">
                          <a:solidFill>
                            <a:srgbClr val="232B34"/>
                          </a:solidFill>
                          <a:latin typeface="Aptos"/>
                        </a:defRPr>
                      </a:pPr>
                      <a:r>
                        <a:t>0.6213</a:t>
                      </a:r>
                    </a:p>
                  </a:txBody>
                  <a:tcPr>
                    <a:solidFill>
                      <a:srgbClr val="F2F6FA"/>
                    </a:solidFill>
                  </a:tcPr>
                </a:tc>
              </a:tr>
            </a:tbl>
          </a:graphicData>
        </a:graphic>
      </p:graphicFrame>
      <p:sp>
        <p:nvSpPr>
          <p:cNvPr id="6" name="Rounded Rectangle 5"/>
          <p:cNvSpPr/>
          <p:nvPr/>
        </p:nvSpPr>
        <p:spPr>
          <a:xfrm>
            <a:off x="640080" y="3977639"/>
            <a:ext cx="534924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977639"/>
            <a:ext cx="73152" cy="132588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4123944"/>
            <a:ext cx="5001768" cy="347472"/>
          </a:xfrm>
          <a:prstGeom prst="rect">
            <a:avLst/>
          </a:prstGeom>
          <a:noFill/>
        </p:spPr>
        <p:txBody>
          <a:bodyPr wrap="none">
            <a:spAutoFit/>
          </a:bodyPr>
          <a:lstStyle/>
          <a:p>
            <a:r>
              <a:rPr sz="1600" b="1">
                <a:solidFill>
                  <a:srgbClr val="142746"/>
                </a:solidFill>
                <a:latin typeface="Aptos"/>
              </a:rPr>
              <a:t>Model Selection</a:t>
            </a:r>
          </a:p>
        </p:txBody>
      </p:sp>
      <p:sp>
        <p:nvSpPr>
          <p:cNvPr id="9" name="TextBox 8"/>
          <p:cNvSpPr txBox="1"/>
          <p:nvPr/>
        </p:nvSpPr>
        <p:spPr>
          <a:xfrm>
            <a:off x="841247" y="4544568"/>
            <a:ext cx="5001768" cy="640080"/>
          </a:xfrm>
          <a:prstGeom prst="rect">
            <a:avLst/>
          </a:prstGeom>
          <a:noFill/>
        </p:spPr>
        <p:txBody>
          <a:bodyPr wrap="square">
            <a:spAutoFit/>
          </a:bodyPr>
          <a:lstStyle/>
          <a:p>
            <a:r>
              <a:rPr sz="1250">
                <a:solidFill>
                  <a:srgbClr val="232B34"/>
                </a:solidFill>
                <a:latin typeface="Aptos"/>
              </a:rPr>
              <a:t>Random Forest has the best F1 (0.0974) and ROC-AUC (0.6213) among the tested models. Logistic Regression has the highest claim recall (0.5504).</a:t>
            </a:r>
          </a:p>
        </p:txBody>
      </p:sp>
      <p:sp>
        <p:nvSpPr>
          <p:cNvPr id="10" name="Rounded Rectangle 9"/>
          <p:cNvSpPr/>
          <p:nvPr/>
        </p:nvSpPr>
        <p:spPr>
          <a:xfrm>
            <a:off x="6217920" y="3977639"/>
            <a:ext cx="5349240" cy="132588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77639"/>
            <a:ext cx="73152" cy="132588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4123944"/>
            <a:ext cx="5001768" cy="347472"/>
          </a:xfrm>
          <a:prstGeom prst="rect">
            <a:avLst/>
          </a:prstGeom>
          <a:noFill/>
        </p:spPr>
        <p:txBody>
          <a:bodyPr wrap="none">
            <a:spAutoFit/>
          </a:bodyPr>
          <a:lstStyle/>
          <a:p>
            <a:r>
              <a:rPr sz="1600" b="1">
                <a:solidFill>
                  <a:srgbClr val="142746"/>
                </a:solidFill>
                <a:latin typeface="Aptos"/>
              </a:rPr>
              <a:t>Interpretation</a:t>
            </a:r>
          </a:p>
        </p:txBody>
      </p:sp>
      <p:sp>
        <p:nvSpPr>
          <p:cNvPr id="13" name="TextBox 12"/>
          <p:cNvSpPr txBox="1"/>
          <p:nvPr/>
        </p:nvSpPr>
        <p:spPr>
          <a:xfrm>
            <a:off x="6419088" y="4544568"/>
            <a:ext cx="5001768" cy="640080"/>
          </a:xfrm>
          <a:prstGeom prst="rect">
            <a:avLst/>
          </a:prstGeom>
          <a:noFill/>
        </p:spPr>
        <p:txBody>
          <a:bodyPr wrap="square">
            <a:spAutoFit/>
          </a:bodyPr>
          <a:lstStyle/>
          <a:p>
            <a:r>
              <a:rPr sz="1250">
                <a:solidFill>
                  <a:srgbClr val="232B34"/>
                </a:solidFill>
                <a:latin typeface="Aptos"/>
              </a:rPr>
              <a:t>The low precision/F1 reflects the severe class imbalance. Results should be presented as a baseline analytical solution, not as a highly accurate production model.</a:t>
            </a:r>
          </a:p>
        </p:txBody>
      </p:sp>
      <p:sp>
        <p:nvSpPr>
          <p:cNvPr id="14" name="Rectangle 13"/>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7. HBase / Pig / Integration — Technology Evidence</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1 min</a:t>
            </a:r>
          </a:p>
        </p:txBody>
      </p:sp>
      <p:sp>
        <p:nvSpPr>
          <p:cNvPr id="5" name="Rounded Rectangle 4"/>
          <p:cNvSpPr/>
          <p:nvPr/>
        </p:nvSpPr>
        <p:spPr>
          <a:xfrm>
            <a:off x="594360" y="1234440"/>
            <a:ext cx="3383280" cy="42519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34440"/>
            <a:ext cx="73152" cy="425196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80744"/>
            <a:ext cx="3035808" cy="347472"/>
          </a:xfrm>
          <a:prstGeom prst="rect">
            <a:avLst/>
          </a:prstGeom>
          <a:noFill/>
        </p:spPr>
        <p:txBody>
          <a:bodyPr wrap="none">
            <a:spAutoFit/>
          </a:bodyPr>
          <a:lstStyle/>
          <a:p>
            <a:r>
              <a:rPr sz="1600" b="1">
                <a:solidFill>
                  <a:srgbClr val="142746"/>
                </a:solidFill>
                <a:latin typeface="Aptos"/>
              </a:rPr>
              <a:t>HBase / Pig Status</a:t>
            </a:r>
          </a:p>
        </p:txBody>
      </p:sp>
      <p:sp>
        <p:nvSpPr>
          <p:cNvPr id="8" name="TextBox 7"/>
          <p:cNvSpPr txBox="1"/>
          <p:nvPr/>
        </p:nvSpPr>
        <p:spPr>
          <a:xfrm>
            <a:off x="795528" y="1801368"/>
            <a:ext cx="3035808" cy="3566160"/>
          </a:xfrm>
          <a:prstGeom prst="rect">
            <a:avLst/>
          </a:prstGeom>
          <a:noFill/>
        </p:spPr>
        <p:txBody>
          <a:bodyPr wrap="square">
            <a:spAutoFit/>
          </a:bodyPr>
          <a:lstStyle/>
          <a:p>
            <a:r>
              <a:rPr sz="1250">
                <a:solidFill>
                  <a:srgbClr val="232B34"/>
                </a:solidFill>
                <a:latin typeface="Aptos"/>
              </a:rPr>
              <a:t>HBase and Pig were not used in the implemented workflow.
The project guide treats HBase/Pig as relevant where applicable or instructed. The implemented stack for this project is HDFS + Hive + Spark/PySpark.</a:t>
            </a:r>
          </a:p>
        </p:txBody>
      </p:sp>
      <p:sp>
        <p:nvSpPr>
          <p:cNvPr id="9" name="Rounded Rectangle 8"/>
          <p:cNvSpPr/>
          <p:nvPr/>
        </p:nvSpPr>
        <p:spPr>
          <a:xfrm>
            <a:off x="4251960" y="1234440"/>
            <a:ext cx="3383280" cy="42519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234440"/>
            <a:ext cx="73152" cy="425196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1380744"/>
            <a:ext cx="3035808" cy="347472"/>
          </a:xfrm>
          <a:prstGeom prst="rect">
            <a:avLst/>
          </a:prstGeom>
          <a:noFill/>
        </p:spPr>
        <p:txBody>
          <a:bodyPr wrap="none">
            <a:spAutoFit/>
          </a:bodyPr>
          <a:lstStyle/>
          <a:p>
            <a:r>
              <a:rPr sz="1600" b="1">
                <a:solidFill>
                  <a:srgbClr val="142746"/>
                </a:solidFill>
                <a:latin typeface="Aptos"/>
              </a:rPr>
              <a:t>Integration Evidence</a:t>
            </a:r>
          </a:p>
        </p:txBody>
      </p:sp>
      <p:sp>
        <p:nvSpPr>
          <p:cNvPr id="12" name="TextBox 11"/>
          <p:cNvSpPr txBox="1"/>
          <p:nvPr/>
        </p:nvSpPr>
        <p:spPr>
          <a:xfrm>
            <a:off x="4453128" y="1801368"/>
            <a:ext cx="3035808" cy="3566160"/>
          </a:xfrm>
          <a:prstGeom prst="rect">
            <a:avLst/>
          </a:prstGeom>
          <a:noFill/>
        </p:spPr>
        <p:txBody>
          <a:bodyPr wrap="square">
            <a:spAutoFit/>
          </a:bodyPr>
          <a:lstStyle/>
          <a:p>
            <a:r>
              <a:rPr sz="1250">
                <a:solidFill>
                  <a:srgbClr val="232B34"/>
                </a:solidFill>
                <a:latin typeface="Aptos"/>
              </a:rPr>
              <a:t>HDFS raw dataset
↓
Hive external table + SQL
↓
PySpark reads the same HDFS source
↓
ML training + evaluation
↓
Random Forest predictions
↓
HDFS results directory</a:t>
            </a:r>
          </a:p>
        </p:txBody>
      </p:sp>
      <p:sp>
        <p:nvSpPr>
          <p:cNvPr id="13" name="Rounded Rectangle 12"/>
          <p:cNvSpPr/>
          <p:nvPr/>
        </p:nvSpPr>
        <p:spPr>
          <a:xfrm>
            <a:off x="7909560" y="1234440"/>
            <a:ext cx="3611880" cy="425196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1234440"/>
            <a:ext cx="73152" cy="425196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0728" y="1380744"/>
            <a:ext cx="3264408" cy="347472"/>
          </a:xfrm>
          <a:prstGeom prst="rect">
            <a:avLst/>
          </a:prstGeom>
          <a:noFill/>
        </p:spPr>
        <p:txBody>
          <a:bodyPr wrap="none">
            <a:spAutoFit/>
          </a:bodyPr>
          <a:lstStyle/>
          <a:p>
            <a:r>
              <a:rPr sz="1600" b="1">
                <a:solidFill>
                  <a:srgbClr val="142746"/>
                </a:solidFill>
                <a:latin typeface="Aptos"/>
              </a:rPr>
              <a:t>Distributed Evidence</a:t>
            </a:r>
          </a:p>
        </p:txBody>
      </p:sp>
      <p:sp>
        <p:nvSpPr>
          <p:cNvPr id="16" name="TextBox 15"/>
          <p:cNvSpPr txBox="1"/>
          <p:nvPr/>
        </p:nvSpPr>
        <p:spPr>
          <a:xfrm>
            <a:off x="8110728" y="1801368"/>
            <a:ext cx="3264408" cy="3566160"/>
          </a:xfrm>
          <a:prstGeom prst="rect">
            <a:avLst/>
          </a:prstGeom>
          <a:noFill/>
        </p:spPr>
        <p:txBody>
          <a:bodyPr wrap="square">
            <a:spAutoFit/>
          </a:bodyPr>
          <a:lstStyle/>
          <a:p>
            <a:r>
              <a:rPr sz="1250">
                <a:solidFill>
                  <a:srgbClr val="232B34"/>
                </a:solidFill>
                <a:latin typeface="Aptos"/>
              </a:rPr>
              <a:t>• Spark Master/Worker execution
• Spark output split into 8 part files
• _SUCCESS marker created
• HDFS result directory verified with hdfs dfs -ls and -du -h
• Prediction files contain target and prediction</a:t>
            </a:r>
          </a:p>
        </p:txBody>
      </p:sp>
      <p:sp>
        <p:nvSpPr>
          <p:cNvPr id="17" name="Rectangle 16"/>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Insurance Claim Prediction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0698480" cy="594360"/>
          </a:xfrm>
          <a:prstGeom prst="rect">
            <a:avLst/>
          </a:prstGeom>
          <a:noFill/>
        </p:spPr>
        <p:txBody>
          <a:bodyPr wrap="none">
            <a:spAutoFit/>
          </a:bodyPr>
          <a:lstStyle/>
          <a:p>
            <a:r>
              <a:rPr sz="2700" b="1">
                <a:solidFill>
                  <a:srgbClr val="142746"/>
                </a:solidFill>
                <a:latin typeface="Aptos Display"/>
              </a:rPr>
              <a:t>8. Results + Individual Contribution + Technical Q&amp;A</a:t>
            </a:r>
          </a:p>
        </p:txBody>
      </p:sp>
      <p:sp>
        <p:nvSpPr>
          <p:cNvPr id="4" name="TextBox 3"/>
          <p:cNvSpPr txBox="1"/>
          <p:nvPr/>
        </p:nvSpPr>
        <p:spPr>
          <a:xfrm>
            <a:off x="10469880" y="384048"/>
            <a:ext cx="1188720" cy="320040"/>
          </a:xfrm>
          <a:prstGeom prst="rect">
            <a:avLst/>
          </a:prstGeom>
          <a:noFill/>
        </p:spPr>
        <p:txBody>
          <a:bodyPr wrap="none">
            <a:spAutoFit/>
          </a:bodyPr>
          <a:lstStyle/>
          <a:p>
            <a:pPr algn="r"/>
            <a:r>
              <a:rPr sz="1000" b="1">
                <a:solidFill>
                  <a:srgbClr val="22827D"/>
                </a:solidFill>
                <a:latin typeface="Aptos"/>
              </a:rPr>
              <a:t>2 min</a:t>
            </a:r>
          </a:p>
        </p:txBody>
      </p:sp>
      <p:sp>
        <p:nvSpPr>
          <p:cNvPr id="5" name="Rounded Rectangle 4"/>
          <p:cNvSpPr/>
          <p:nvPr/>
        </p:nvSpPr>
        <p:spPr>
          <a:xfrm>
            <a:off x="594360" y="1097280"/>
            <a:ext cx="3657600" cy="480060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097280"/>
            <a:ext cx="73152" cy="4800600"/>
          </a:xfrm>
          <a:prstGeom prst="rect">
            <a:avLst/>
          </a:prstGeom>
          <a:solidFill>
            <a:srgbClr val="2282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243584"/>
            <a:ext cx="3310128" cy="347472"/>
          </a:xfrm>
          <a:prstGeom prst="rect">
            <a:avLst/>
          </a:prstGeom>
          <a:noFill/>
        </p:spPr>
        <p:txBody>
          <a:bodyPr wrap="none">
            <a:spAutoFit/>
          </a:bodyPr>
          <a:lstStyle/>
          <a:p>
            <a:r>
              <a:rPr sz="1600" b="1">
                <a:solidFill>
                  <a:srgbClr val="142746"/>
                </a:solidFill>
                <a:latin typeface="Aptos"/>
              </a:rPr>
              <a:t>Final Result</a:t>
            </a:r>
          </a:p>
        </p:txBody>
      </p:sp>
      <p:sp>
        <p:nvSpPr>
          <p:cNvPr id="8" name="TextBox 7"/>
          <p:cNvSpPr txBox="1"/>
          <p:nvPr/>
        </p:nvSpPr>
        <p:spPr>
          <a:xfrm>
            <a:off x="795528" y="1664207"/>
            <a:ext cx="3310128" cy="4114800"/>
          </a:xfrm>
          <a:prstGeom prst="rect">
            <a:avLst/>
          </a:prstGeom>
          <a:noFill/>
        </p:spPr>
        <p:txBody>
          <a:bodyPr wrap="square">
            <a:spAutoFit/>
          </a:bodyPr>
          <a:lstStyle/>
          <a:p>
            <a:r>
              <a:rPr sz="1250">
                <a:solidFill>
                  <a:srgbClr val="232B34"/>
                </a:solidFill>
                <a:latin typeface="Aptos"/>
              </a:rPr>
              <a:t>The end-to-end pipeline is working:
HDFS ingestion ✓
Hive database/table ✓
Hive analytical queries ✓
PySpark preprocessing ✓
Three ML models ✓
Model evaluation ✓
Random Forest predictions → HDFS ✓</a:t>
            </a:r>
          </a:p>
        </p:txBody>
      </p:sp>
      <p:sp>
        <p:nvSpPr>
          <p:cNvPr id="9" name="Rounded Rectangle 8"/>
          <p:cNvSpPr/>
          <p:nvPr/>
        </p:nvSpPr>
        <p:spPr>
          <a:xfrm>
            <a:off x="4480560" y="1097280"/>
            <a:ext cx="3246120" cy="480060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0560" y="1097280"/>
            <a:ext cx="73152" cy="4800600"/>
          </a:xfrm>
          <a:prstGeom prst="rect">
            <a:avLst/>
          </a:prstGeom>
          <a:solidFill>
            <a:srgbClr val="2B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1728" y="1243584"/>
            <a:ext cx="2898648" cy="347472"/>
          </a:xfrm>
          <a:prstGeom prst="rect">
            <a:avLst/>
          </a:prstGeom>
          <a:noFill/>
        </p:spPr>
        <p:txBody>
          <a:bodyPr wrap="none">
            <a:spAutoFit/>
          </a:bodyPr>
          <a:lstStyle/>
          <a:p>
            <a:r>
              <a:rPr sz="1600" b="1">
                <a:solidFill>
                  <a:srgbClr val="142746"/>
                </a:solidFill>
                <a:latin typeface="Aptos"/>
              </a:rPr>
              <a:t>Individual Contribution</a:t>
            </a:r>
          </a:p>
        </p:txBody>
      </p:sp>
      <p:sp>
        <p:nvSpPr>
          <p:cNvPr id="12" name="TextBox 11"/>
          <p:cNvSpPr txBox="1"/>
          <p:nvPr/>
        </p:nvSpPr>
        <p:spPr>
          <a:xfrm>
            <a:off x="4681728" y="1664207"/>
            <a:ext cx="2898648" cy="4114800"/>
          </a:xfrm>
          <a:prstGeom prst="rect">
            <a:avLst/>
          </a:prstGeom>
          <a:noFill/>
        </p:spPr>
        <p:txBody>
          <a:bodyPr wrap="square">
            <a:spAutoFit/>
          </a:bodyPr>
          <a:lstStyle/>
          <a:p>
            <a:r>
              <a:rPr sz="1250">
                <a:solidFill>
                  <a:srgbClr val="232B34"/>
                </a:solidFill>
                <a:latin typeface="Aptos"/>
              </a:rPr>
              <a:t>Replace the name below with your actual team role before submission.
Name: __________________
Contribution demonstrated in this project:
• HDFS ingestion and verification
• Hive database/table and queries
• Spark output / HDFS prediction verification
• End-to-end pipeline understanding</a:t>
            </a:r>
          </a:p>
        </p:txBody>
      </p:sp>
      <p:sp>
        <p:nvSpPr>
          <p:cNvPr id="13" name="Rounded Rectangle 12"/>
          <p:cNvSpPr/>
          <p:nvPr/>
        </p:nvSpPr>
        <p:spPr>
          <a:xfrm>
            <a:off x="7955279" y="1097280"/>
            <a:ext cx="3611880" cy="4800600"/>
          </a:xfrm>
          <a:prstGeom prst="roundRect">
            <a:avLst/>
          </a:prstGeom>
          <a:solidFill>
            <a:srgbClr val="F2F6FA"/>
          </a:solidFill>
          <a:ln>
            <a:solidFill>
              <a:srgbClr val="E0E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1097280"/>
            <a:ext cx="73152" cy="4800600"/>
          </a:xfrm>
          <a:prstGeom prst="rect">
            <a:avLst/>
          </a:prstGeom>
          <a:solidFill>
            <a:srgbClr val="D67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1243584"/>
            <a:ext cx="3264408" cy="347472"/>
          </a:xfrm>
          <a:prstGeom prst="rect">
            <a:avLst/>
          </a:prstGeom>
          <a:noFill/>
        </p:spPr>
        <p:txBody>
          <a:bodyPr wrap="none">
            <a:spAutoFit/>
          </a:bodyPr>
          <a:lstStyle/>
          <a:p>
            <a:r>
              <a:rPr sz="1600" b="1">
                <a:solidFill>
                  <a:srgbClr val="142746"/>
                </a:solidFill>
                <a:latin typeface="Aptos"/>
              </a:rPr>
              <a:t>Technical Questions to Expect</a:t>
            </a:r>
          </a:p>
        </p:txBody>
      </p:sp>
      <p:sp>
        <p:nvSpPr>
          <p:cNvPr id="16" name="TextBox 15"/>
          <p:cNvSpPr txBox="1"/>
          <p:nvPr/>
        </p:nvSpPr>
        <p:spPr>
          <a:xfrm>
            <a:off x="8156448" y="1664207"/>
            <a:ext cx="3264408" cy="4114800"/>
          </a:xfrm>
          <a:prstGeom prst="rect">
            <a:avLst/>
          </a:prstGeom>
          <a:noFill/>
        </p:spPr>
        <p:txBody>
          <a:bodyPr wrap="square">
            <a:spAutoFit/>
          </a:bodyPr>
          <a:lstStyle/>
          <a:p>
            <a:r>
              <a:rPr sz="1250">
                <a:solidFill>
                  <a:srgbClr val="232B34"/>
                </a:solidFill>
                <a:latin typeface="Aptos"/>
              </a:rPr>
              <a:t>1. Why HDFS?
2. Why Hive?
3. Hive vs Spark?
4. Why class weighting?
5. Why Random Forest?
6. What does the target mean?
7. Why are the classes imbalanced?
8. How does Spark write distributed output?
9. What happens when a Spark job runs?
10. Explain your own contribution.</a:t>
            </a:r>
          </a:p>
        </p:txBody>
      </p:sp>
      <p:sp>
        <p:nvSpPr>
          <p:cNvPr id="17" name="Rectangle 16"/>
          <p:cNvSpPr/>
          <p:nvPr/>
        </p:nvSpPr>
        <p:spPr>
          <a:xfrm>
            <a:off x="502920" y="6446520"/>
            <a:ext cx="11155680" cy="9144"/>
          </a:xfrm>
          <a:prstGeom prst="rect">
            <a:avLst/>
          </a:prstGeom>
          <a:solidFill>
            <a:srgbClr val="E0E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6492240"/>
            <a:ext cx="11064240" cy="201168"/>
          </a:xfrm>
          <a:prstGeom prst="rect">
            <a:avLst/>
          </a:prstGeom>
          <a:noFill/>
        </p:spPr>
        <p:txBody>
          <a:bodyPr wrap="none">
            <a:spAutoFit/>
          </a:bodyPr>
          <a:lstStyle/>
          <a:p>
            <a:r>
              <a:rPr sz="850">
                <a:solidFill>
                  <a:srgbClr val="646E78"/>
                </a:solidFill>
                <a:latin typeface="Aptos"/>
              </a:rPr>
              <a:t>Group 6 • 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